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 (rev 3) — A4 portrait, single page. Final layout with breathing.</a:t>
            </a:r>
          </a:p>
          <a:p>
            <a:r>
              <a:t>8 sections top→bottom:</a:t>
            </a:r>
          </a:p>
          <a:p>
            <a:r>
              <a:t>  1. ヘッダ</a:t>
            </a:r>
          </a:p>
          <a:p>
            <a:r>
              <a:t>  2. ジャッジ (60%) + 累積実績/年度末予測 split カード (40%)</a:t>
            </a:r>
          </a:p>
          <a:p>
            <a:r>
              <a:t>  3. 月次推移チャート (単月)</a:t>
            </a:r>
          </a:p>
          <a:p>
            <a:r>
              <a:t>  4. 月別実績/計画 表 (横幅フル)</a:t>
            </a:r>
          </a:p>
          <a:p>
            <a:r>
              <a:t>  5. 前月(6月) KPI 4タイル</a:t>
            </a:r>
          </a:p>
          <a:p>
            <a:r>
              <a:t>  6. コストTOP5 (40%) + 生成行TOP3 (30%) + 効率TOP3 (30%)</a:t>
            </a:r>
          </a:p>
          <a:p>
            <a:r>
              <a:t>  7. 14チーム ポジショニング (V10 の2色配色, ラベル無し)</a:t>
            </a:r>
          </a:p>
          <a:p>
            <a:r>
              <a:t>  8. 結論バー</a:t>
            </a:r>
          </a:p>
          <a:p/>
          <a:p>
            <a:r>
              <a:t>Compared to V11 rev2:</a:t>
            </a:r>
          </a:p>
          <a:p>
            <a:r>
              <a:t>  - CHANGED: 年度末予測カードを 上下並び → 左右(50/50)分割</a:t>
            </a:r>
          </a:p>
          <a:p>
            <a:r>
              <a:t>    LEFT = 累積実績 1,890 / RIGHT = 年度末予測 9,500</a:t>
            </a:r>
          </a:p>
          <a:p>
            <a:r>
              <a:t>    Amber 縦罫線で 実績/予測 を視覚分離.</a:t>
            </a:r>
          </a:p>
          <a:p>
            <a:r>
              <a:t>  - REMOVED: IPA 一次ソース ベンチマークセクション (rev2 で追加した⑧).</a:t>
            </a:r>
          </a:p>
          <a:p>
            <a:r>
              <a:t>  - INCREASED PADDING: セクション間 0.20-0.25" インチ余白に拡大.</a:t>
            </a:r>
          </a:p>
          <a:p>
            <a:r>
              <a:t>    Chart / TOP / Team-Map をやや拡大して読みやすさ向上.</a:t>
            </a:r>
          </a:p>
          <a:p>
            <a:r>
              <a:t>  - CONCLUSION BAR (V10 そのまま, 文言維持) at page bottom.</a:t>
            </a:r>
          </a:p>
          <a:p/>
          <a:p>
            <a:r>
              <a:t>Mock-data: TOP1-3 cost preserved 1:1 from V7 (130/108/92). 名前は</a:t>
            </a:r>
          </a:p>
          <a:p>
            <a:r>
              <a:t>ユーザー指定 (山田/鈴木/佐藤). TOP4 田中 78 / TOP5 高橋 64 はモック.</a:t>
            </a:r>
          </a:p>
          <a:p>
            <a:r>
              <a:t>On-slide footnote in cost TOP5 panel explicitly disclosed.</a:t>
            </a:r>
          </a:p>
          <a:p>
            <a:r>
              <a:t>Forecast monthly 770 [千円] · 22K行 から 年度末 9,500 予測の旨は</a:t>
            </a:r>
          </a:p>
          <a:p>
            <a:r>
              <a:t>チャート上部 caption に明記.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54864" cy="3657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2E"/>
                </a:solidFill>
                <a:latin typeface="Segoe UI"/>
                <a:ea typeface="メイリオ"/>
              </a:rPr>
              <a:t>Claude Code 利用量レポート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219456"/>
            <a:ext cx="1024128" cy="292608"/>
          </a:xfrm>
          <a:prstGeom prst="roundRect">
            <a:avLst>
              <a:gd name="adj" fmla="val 3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46888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4B942"/>
                </a:solidFill>
                <a:latin typeface="Segoe UI"/>
                <a:ea typeface="メイリオ"/>
              </a:rPr>
              <a:t>V13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777240"/>
            <a:ext cx="7013448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005840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45720" cy="29260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515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E6F40"/>
                </a:solidFill>
                <a:latin typeface="Segoe UI"/>
                <a:ea typeface="メイリオ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033272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効率性は改善傾向 (Q1累積で継続観測)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161288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過去3ヶ月でコスト 1.19倍 vs 採用行数 1.33倍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35024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35024"/>
            <a:ext cx="45720" cy="292608"/>
          </a:xfrm>
          <a:prstGeom prst="rect">
            <a:avLst/>
          </a:prstGeom>
          <a:solidFill>
            <a:srgbClr val="C8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3807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88E1F"/>
                </a:solidFill>
                <a:latin typeface="Segoe UI"/>
                <a:ea typeface="メイリオ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1362456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Q1消費率 84% (実績 1,890 / 計画 2,250 [千円])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1490472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外注増員 vs Claude活用拡大、議論事項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64208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664208"/>
            <a:ext cx="45720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7099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Segoe UI"/>
                <a:ea typeface="メイリオ"/>
              </a:rPr>
              <a:t>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1691640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即対応: 認証基盤PJのモデル選定見直し (6月単月で兆候)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1819656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局所的な過剰利用の兆候 (詳細は別ダッシュボード)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914400"/>
            <a:ext cx="135788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9883" y="914400"/>
            <a:ext cx="1357884" cy="109728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950976"/>
            <a:ext cx="136245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5C9A8"/>
                </a:solidFill>
                <a:latin typeface="Segoe UI"/>
                <a:ea typeface="メイリオ"/>
              </a:rPr>
              <a:t>Q1実績累積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133856"/>
            <a:ext cx="136245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4B942"/>
                </a:solidFill>
                <a:latin typeface="Segoe UI"/>
                <a:ea typeface="メイリオ"/>
              </a:rPr>
              <a:t>1,890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1517904"/>
            <a:ext cx="1362456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9884" y="950976"/>
            <a:ext cx="136245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Q1当初計画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9884" y="1133856"/>
            <a:ext cx="136245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1F3A2E"/>
                </a:solidFill>
                <a:latin typeface="Segoe UI"/>
                <a:ea typeface="メイリオ"/>
              </a:rPr>
              <a:t>2,250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9883" y="1517904"/>
            <a:ext cx="1362456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F3A2E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29884" y="1664208"/>
            <a:ext cx="136245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計画消費率 84%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9884" y="1819656"/>
            <a:ext cx="136245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F3A2E"/>
                </a:solidFill>
                <a:latin typeface="Segoe UI"/>
                <a:ea typeface="メイリオ"/>
              </a:rPr>
              <a:t>(実績 1,890 / 計画 2,250)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2402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月次推移 (単月) — コスト × 採用コード行数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8404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月別実績 / 計画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85876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単位: [千円]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41648"/>
            <a:ext cx="7013448" cy="146304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041648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4月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0784" y="4041648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5月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32888" y="4041648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6月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20440" y="4041648"/>
            <a:ext cx="37673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Q1合計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87952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187952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当初計画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4187952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00784" y="4187952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32888" y="4187952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20440" y="4187952"/>
            <a:ext cx="37673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2,250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334256"/>
            <a:ext cx="7013448" cy="146304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33425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実績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" y="4334256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580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00784" y="4334256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32888" y="4334256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20440" y="4334256"/>
            <a:ext cx="37673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1,890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4663440"/>
            <a:ext cx="7562088" cy="32004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4663440"/>
            <a:ext cx="54864" cy="3200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1168" y="4690872"/>
            <a:ext cx="274320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  <a:ea typeface="メイリオ"/>
              </a:rPr>
              <a:t>6月の実績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17520" y="4690872"/>
            <a:ext cx="438912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↓ 以下は 2026 年 6 月 単月のスナップショット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120640"/>
            <a:ext cx="221589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5120640"/>
            <a:ext cx="221589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7472" y="5166359"/>
            <a:ext cx="2069591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コスト [千円]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7472" y="5285231"/>
            <a:ext cx="12801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64208" y="5285232"/>
            <a:ext cx="7498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C88E1F"/>
                </a:solidFill>
                <a:latin typeface="Segoe UI"/>
                <a:ea typeface="メイリオ"/>
              </a:rPr>
              <a:t>+11.3%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7472" y="5632704"/>
            <a:ext cx="2069591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620 [千円]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670048" y="5120640"/>
            <a:ext cx="221589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670048" y="5120640"/>
            <a:ext cx="221589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43200" y="5166359"/>
            <a:ext cx="2069591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MAU [6月]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0" y="5285231"/>
            <a:ext cx="12801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12名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59935" y="5285232"/>
            <a:ext cx="7498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E6F40"/>
                </a:solidFill>
                <a:latin typeface="Segoe UI"/>
                <a:ea typeface="メイリオ"/>
              </a:rPr>
              <a:t>+2名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43200" y="5632704"/>
            <a:ext cx="2069591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10名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065776" y="5120640"/>
            <a:ext cx="221589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065776" y="5120640"/>
            <a:ext cx="221589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138928" y="5166359"/>
            <a:ext cx="2069591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1人あたり月額 [千円]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38928" y="5285231"/>
            <a:ext cx="12801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57.5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55664" y="5285232"/>
            <a:ext cx="7498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E6F40"/>
                </a:solidFill>
                <a:latin typeface="Segoe UI"/>
                <a:ea typeface="メイリオ"/>
              </a:rPr>
              <a:t>−4.5%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38928" y="5632704"/>
            <a:ext cx="2069591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62.0 [千円]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7635240"/>
            <a:ext cx="70134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1097280" y="8869680"/>
            <a:ext cx="4572000" cy="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7280" y="7909560"/>
            <a:ext cx="0" cy="96012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83280" y="7909560"/>
            <a:ext cx="0" cy="96012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97280" y="8389620"/>
            <a:ext cx="4572000" cy="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320040" y="8115300"/>
            <a:ext cx="731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↑ 1人当たり
コスト (千円/人)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4300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▼ 高コスト × 低生産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47472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高コスト × 高生産 ▼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4300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▲ 低コスト × 低生産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47472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低コスト × 高生産 ▲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468880" y="9116567"/>
            <a:ext cx="18288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6B6B6B"/>
                </a:solidFill>
                <a:latin typeface="Segoe UI"/>
                <a:ea typeface="メイリオ"/>
              </a:rPr>
              <a:t>バブル径 = MAU (アクティブユーザー数)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74320" y="9509760"/>
            <a:ext cx="343814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65760" y="9555480"/>
            <a:ext cx="3255263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5C9A8"/>
                </a:solidFill>
                <a:latin typeface="Segoe UI"/>
                <a:ea typeface="メイリオ"/>
              </a:rPr>
              <a:t>当チーム実績 (6月)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65760" y="9701784"/>
            <a:ext cx="3255263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B942"/>
                </a:solidFill>
                <a:latin typeface="Segoe UI"/>
                <a:ea typeface="メイリオ"/>
              </a:rPr>
              <a:t>690 [千円] → 20,000行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365760" y="9966960"/>
            <a:ext cx="3255263" cy="0"/>
          </a:xfrm>
          <a:prstGeom prst="line">
            <a:avLst/>
          </a:prstGeom>
          <a:ln w="63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365760" y="9985248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業界基準 (新規開発上位25% 1,000行/人月)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5760" y="10149840"/>
            <a:ext cx="3255263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Segoe UI"/>
                <a:ea typeface="メイリオ"/>
              </a:rPr>
              <a:t>20,000 行 ≒ 20 人月相当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65760" y="10424160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(≒ 外注費用 32,000 [千円] 相当)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74320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74320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47472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コスト TOP5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819655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29" name="Oval 228"/>
          <p:cNvSpPr/>
          <p:nvPr/>
        </p:nvSpPr>
        <p:spPr>
          <a:xfrm>
            <a:off x="347472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47472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57784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911095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130</a:t>
            </a:r>
          </a:p>
        </p:txBody>
      </p:sp>
      <p:sp>
        <p:nvSpPr>
          <p:cNvPr id="233" name="Oval 232"/>
          <p:cNvSpPr/>
          <p:nvPr/>
        </p:nvSpPr>
        <p:spPr>
          <a:xfrm>
            <a:off x="347472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347472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57784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911095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108</a:t>
            </a:r>
          </a:p>
        </p:txBody>
      </p:sp>
      <p:sp>
        <p:nvSpPr>
          <p:cNvPr id="237" name="Oval 236"/>
          <p:cNvSpPr/>
          <p:nvPr/>
        </p:nvSpPr>
        <p:spPr>
          <a:xfrm>
            <a:off x="347472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47472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57784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911095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92</a:t>
            </a:r>
          </a:p>
        </p:txBody>
      </p:sp>
      <p:sp>
        <p:nvSpPr>
          <p:cNvPr id="241" name="Oval 240"/>
          <p:cNvSpPr/>
          <p:nvPr/>
        </p:nvSpPr>
        <p:spPr>
          <a:xfrm>
            <a:off x="347472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47472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57784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911095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78</a:t>
            </a:r>
          </a:p>
        </p:txBody>
      </p:sp>
      <p:sp>
        <p:nvSpPr>
          <p:cNvPr id="245" name="Oval 244"/>
          <p:cNvSpPr/>
          <p:nvPr/>
        </p:nvSpPr>
        <p:spPr>
          <a:xfrm>
            <a:off x="347472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347472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57784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911095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64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642615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42615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15768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生成行 TOP5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187951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[行]</a:t>
            </a:r>
          </a:p>
        </p:txBody>
      </p:sp>
      <p:sp>
        <p:nvSpPr>
          <p:cNvPr id="253" name="Oval 252"/>
          <p:cNvSpPr/>
          <p:nvPr/>
        </p:nvSpPr>
        <p:spPr>
          <a:xfrm>
            <a:off x="2715768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715768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926079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279391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2,250</a:t>
            </a:r>
          </a:p>
        </p:txBody>
      </p:sp>
      <p:sp>
        <p:nvSpPr>
          <p:cNvPr id="257" name="Oval 256"/>
          <p:cNvSpPr/>
          <p:nvPr/>
        </p:nvSpPr>
        <p:spPr>
          <a:xfrm>
            <a:off x="2715768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2715768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926079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279391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4,200</a:t>
            </a:r>
          </a:p>
        </p:txBody>
      </p:sp>
      <p:sp>
        <p:nvSpPr>
          <p:cNvPr id="261" name="Oval 260"/>
          <p:cNvSpPr/>
          <p:nvPr/>
        </p:nvSpPr>
        <p:spPr>
          <a:xfrm>
            <a:off x="2715768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2715768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926079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279391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2,800</a:t>
            </a:r>
          </a:p>
        </p:txBody>
      </p:sp>
      <p:sp>
        <p:nvSpPr>
          <p:cNvPr id="265" name="Oval 264"/>
          <p:cNvSpPr/>
          <p:nvPr/>
        </p:nvSpPr>
        <p:spPr>
          <a:xfrm>
            <a:off x="2715768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715768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926079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279391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2,200</a:t>
            </a:r>
          </a:p>
        </p:txBody>
      </p:sp>
      <p:sp>
        <p:nvSpPr>
          <p:cNvPr id="269" name="Oval 268"/>
          <p:cNvSpPr/>
          <p:nvPr/>
        </p:nvSpPr>
        <p:spPr>
          <a:xfrm>
            <a:off x="2715768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2715768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926079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279391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1,750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010912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010912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084064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効率 TOP5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556247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[行/千円]</a:t>
            </a:r>
          </a:p>
        </p:txBody>
      </p:sp>
      <p:sp>
        <p:nvSpPr>
          <p:cNvPr id="277" name="Oval 276"/>
          <p:cNvSpPr/>
          <p:nvPr/>
        </p:nvSpPr>
        <p:spPr>
          <a:xfrm>
            <a:off x="5084064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5084064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294375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647687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41.7</a:t>
            </a:r>
          </a:p>
        </p:txBody>
      </p:sp>
      <p:sp>
        <p:nvSpPr>
          <p:cNvPr id="281" name="Oval 280"/>
          <p:cNvSpPr/>
          <p:nvPr/>
        </p:nvSpPr>
        <p:spPr>
          <a:xfrm>
            <a:off x="5084064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5084064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5294375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647687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32.3</a:t>
            </a:r>
          </a:p>
        </p:txBody>
      </p:sp>
      <p:sp>
        <p:nvSpPr>
          <p:cNvPr id="285" name="Oval 284"/>
          <p:cNvSpPr/>
          <p:nvPr/>
        </p:nvSpPr>
        <p:spPr>
          <a:xfrm>
            <a:off x="5084064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5084064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294375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647687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30.4</a:t>
            </a:r>
          </a:p>
        </p:txBody>
      </p:sp>
      <p:sp>
        <p:nvSpPr>
          <p:cNvPr id="289" name="Oval 288"/>
          <p:cNvSpPr/>
          <p:nvPr/>
        </p:nvSpPr>
        <p:spPr>
          <a:xfrm>
            <a:off x="5084064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5084064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294375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647687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28.2</a:t>
            </a:r>
          </a:p>
        </p:txBody>
      </p:sp>
      <p:sp>
        <p:nvSpPr>
          <p:cNvPr id="293" name="Oval 292"/>
          <p:cNvSpPr/>
          <p:nvPr/>
        </p:nvSpPr>
        <p:spPr>
          <a:xfrm>
            <a:off x="5084064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084064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294375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647687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27.3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274320" y="7360920"/>
            <a:ext cx="701344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Segoe UI"/>
                <a:ea typeface="メイリオ"/>
              </a:rPr>
              <a:t>全社14チームのポジショニング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5166360" y="8869680"/>
            <a:ext cx="5029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→ 行数/人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3849624" y="9509760"/>
            <a:ext cx="343814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3941063" y="9555480"/>
            <a:ext cx="32552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【参考】 IPA分析  </a:t>
            </a:r>
            <a:r>
              <a:rPr sz="550" b="0">
                <a:solidFill>
                  <a:srgbClr val="1F3A2E"/>
                </a:solidFill>
                <a:latin typeface="Segoe UI"/>
                <a:ea typeface="メイリオ"/>
              </a:rPr>
              <a:t>https://www.ipa.go.jp/digital/software-survey/metrics/hjuojm000000c6it-att/000102171.pdf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941063" y="9875520"/>
            <a:ext cx="325526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>
                <a:solidFill>
                  <a:srgbClr val="6B6B6B"/>
                </a:solidFill>
                <a:latin typeface="Segoe UI"/>
                <a:ea typeface="メイリオ"/>
              </a:rPr>
              <a:t>※ 品質・複雑度・業務特性・言語差分は考慮されない単純比較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3941063" y="10058400"/>
            <a:ext cx="3255263" cy="219456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3941063" y="10058400"/>
            <a:ext cx="45720" cy="21945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3941063" y="10232136"/>
            <a:ext cx="2604211" cy="3657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4032503" y="10094976"/>
            <a:ext cx="1417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改良開発上位25%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5916167" y="10094976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約 800 行/月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3941063" y="10351008"/>
            <a:ext cx="3255263" cy="219456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941063" y="10351008"/>
            <a:ext cx="45720" cy="21945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3941063" y="10524744"/>
            <a:ext cx="3255263" cy="3657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4032503" y="10387584"/>
            <a:ext cx="1417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新規開発上位25%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5916167" y="10387584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約 1,000 行/月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384048" y="731520"/>
            <a:ext cx="6858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2026年度Q1 (4-6月)  /  報告日: 2026-07-01</a:t>
            </a:r>
          </a:p>
        </p:txBody>
      </p:sp>
      <p:pic>
        <p:nvPicPr>
          <p:cNvPr id="315" name="Picture 314" descr="v13_tr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2423160"/>
            <a:ext cx="7013448" cy="1234440"/>
          </a:xfrm>
          <a:prstGeom prst="rect">
            <a:avLst/>
          </a:prstGeom>
        </p:spPr>
      </p:pic>
      <p:sp>
        <p:nvSpPr>
          <p:cNvPr id="316" name="Rectangle 315"/>
          <p:cNvSpPr/>
          <p:nvPr/>
        </p:nvSpPr>
        <p:spPr>
          <a:xfrm>
            <a:off x="274320" y="4480560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320040" y="4480560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消費率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868680" y="4480560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77.3%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1700784" y="4480560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82.7%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2532888" y="4480560"/>
            <a:ext cx="8321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92.0%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3520440" y="4480560"/>
            <a:ext cx="37673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84.0%</a:t>
            </a:r>
          </a:p>
        </p:txBody>
      </p:sp>
      <p:sp>
        <p:nvSpPr>
          <p:cNvPr id="322" name="Oval 321"/>
          <p:cNvSpPr/>
          <p:nvPr/>
        </p:nvSpPr>
        <p:spPr>
          <a:xfrm>
            <a:off x="4510604" y="8415528"/>
            <a:ext cx="140208" cy="14020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3412889" y="8278368"/>
            <a:ext cx="158496" cy="15849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3001844" y="8622792"/>
            <a:ext cx="109728" cy="10972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4713078" y="8208264"/>
            <a:ext cx="170687" cy="170687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118795" y="8098535"/>
            <a:ext cx="134112" cy="13411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1701654" y="7988808"/>
            <a:ext cx="97536" cy="9753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342605" y="7912608"/>
            <a:ext cx="121920" cy="121920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747554" y="8458200"/>
            <a:ext cx="182880" cy="182880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1486988" y="8759952"/>
            <a:ext cx="91440" cy="91440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1263178" y="8689848"/>
            <a:ext cx="103632" cy="10363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1910225" y="8363712"/>
            <a:ext cx="115824" cy="11582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3636699" y="8476488"/>
            <a:ext cx="146304" cy="14630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5133267" y="8065008"/>
            <a:ext cx="201168" cy="20116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4012474" y="8584692"/>
            <a:ext cx="121920" cy="121920"/>
          </a:xfrm>
          <a:prstGeom prst="ellipse">
            <a:avLst/>
          </a:prstGeom>
          <a:solidFill>
            <a:srgbClr val="F4B942"/>
          </a:solidFill>
          <a:ln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4152682" y="8548116"/>
            <a:ext cx="59436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当チーム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384048" y="530352"/>
            <a:ext cx="576072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Segoe UI"/>
                <a:ea typeface="メイリオ"/>
              </a:rPr>
              <a:t>認証基盤プロジェクト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