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V11 (rev 3) — A4 portrait, single page. Final layout with breathing.</a:t>
            </a:r>
          </a:p>
          <a:p>
            <a:r>
              <a:t>8 sections top→bottom:</a:t>
            </a:r>
          </a:p>
          <a:p>
            <a:r>
              <a:t>  1. ヘッダ</a:t>
            </a:r>
          </a:p>
          <a:p>
            <a:r>
              <a:t>  2. ジャッジ (60%) + 累積実績/年度末予測 split カード (40%)</a:t>
            </a:r>
          </a:p>
          <a:p>
            <a:r>
              <a:t>  3. 月次推移チャート (単月)</a:t>
            </a:r>
          </a:p>
          <a:p>
            <a:r>
              <a:t>  4. 月別実績/計画 表 (横幅フル)</a:t>
            </a:r>
          </a:p>
          <a:p>
            <a:r>
              <a:t>  5. 前月(6月) KPI 4タイル</a:t>
            </a:r>
          </a:p>
          <a:p>
            <a:r>
              <a:t>  6. コストTOP5 (40%) + 生成行TOP3 (30%) + 効率TOP3 (30%)</a:t>
            </a:r>
          </a:p>
          <a:p>
            <a:r>
              <a:t>  7. 14チーム ポジショニング (V10 の2色配色, ラベル無し)</a:t>
            </a:r>
          </a:p>
          <a:p>
            <a:r>
              <a:t>  8. 結論バー</a:t>
            </a:r>
          </a:p>
          <a:p/>
          <a:p>
            <a:r>
              <a:t>Compared to V11 rev2:</a:t>
            </a:r>
          </a:p>
          <a:p>
            <a:r>
              <a:t>  - CHANGED: 年度末予測カードを 上下並び → 左右(50/50)分割</a:t>
            </a:r>
          </a:p>
          <a:p>
            <a:r>
              <a:t>    LEFT = 累積実績 1,890 / RIGHT = 年度末予測 9,500</a:t>
            </a:r>
          </a:p>
          <a:p>
            <a:r>
              <a:t>    Amber 縦罫線で 実績/予測 を視覚分離.</a:t>
            </a:r>
          </a:p>
          <a:p>
            <a:r>
              <a:t>  - REMOVED: IPA 一次ソース ベンチマークセクション (rev2 で追加した⑧).</a:t>
            </a:r>
          </a:p>
          <a:p>
            <a:r>
              <a:t>  - INCREASED PADDING: セクション間 0.20-0.25" インチ余白に拡大.</a:t>
            </a:r>
          </a:p>
          <a:p>
            <a:r>
              <a:t>    Chart / TOP / Team-Map をやや拡大して読みやすさ向上.</a:t>
            </a:r>
          </a:p>
          <a:p>
            <a:r>
              <a:t>  - CONCLUSION BAR (V10 そのまま, 文言維持) at page bottom.</a:t>
            </a:r>
          </a:p>
          <a:p/>
          <a:p>
            <a:r>
              <a:t>Mock-data: TOP1-3 cost preserved 1:1 from V7 (130/108/92). 名前は</a:t>
            </a:r>
          </a:p>
          <a:p>
            <a:r>
              <a:t>ユーザー指定 (山田/鈴木/佐藤). TOP4 田中 78 / TOP5 高橋 64 はモック.</a:t>
            </a:r>
          </a:p>
          <a:p>
            <a:r>
              <a:t>On-slide footnote in cost TOP5 panel explicitly disclosed.</a:t>
            </a:r>
          </a:p>
          <a:p>
            <a:r>
              <a:t>Forecast monthly 770 [千円] · 22K行 から 年度末 9,500 予測の旨は</a:t>
            </a:r>
          </a:p>
          <a:p>
            <a:r>
              <a:t>チャート上部 caption に明記.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54864" cy="36576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3A2E"/>
                </a:solidFill>
                <a:latin typeface="Segoe UI"/>
                <a:ea typeface="メイリオ"/>
              </a:rPr>
              <a:t>Claude Code 利用量レポート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219456"/>
            <a:ext cx="1024128" cy="292608"/>
          </a:xfrm>
          <a:prstGeom prst="roundRect">
            <a:avLst>
              <a:gd name="adj" fmla="val 30000"/>
            </a:avLst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63640" y="246888"/>
            <a:ext cx="102412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4B942"/>
                </a:solidFill>
                <a:latin typeface="Segoe UI"/>
                <a:ea typeface="メイリオ"/>
              </a:rPr>
              <a:t>V11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" y="777240"/>
            <a:ext cx="7013448" cy="0"/>
          </a:xfrm>
          <a:prstGeom prst="line">
            <a:avLst/>
          </a:prstGeom>
          <a:ln w="1270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74320" y="1005840"/>
            <a:ext cx="4160520" cy="292608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05840"/>
            <a:ext cx="45720" cy="292608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05156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E6F40"/>
                </a:solidFill>
                <a:latin typeface="Segoe UI"/>
                <a:ea typeface="メイリオ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1033272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効率性は改善傾向 (Q1累積で継続観測)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161288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222824"/>
                </a:solidFill>
                <a:latin typeface="Segoe UI"/>
                <a:ea typeface="メイリオ"/>
              </a:rPr>
              <a:t>過去3ヶ月でコスト 1.19倍 vs 採用行数 1.33倍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335024"/>
            <a:ext cx="4160520" cy="292608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335024"/>
            <a:ext cx="45720" cy="292608"/>
          </a:xfrm>
          <a:prstGeom prst="rect">
            <a:avLst/>
          </a:prstGeom>
          <a:solidFill>
            <a:srgbClr val="C88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380744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C88E1F"/>
                </a:solidFill>
                <a:latin typeface="Segoe UI"/>
                <a:ea typeface="メイリオ"/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1362456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来期の投資規模: 外注費用 5.4人月相当 (累積+残月計画ベース)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1490472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222824"/>
                </a:solidFill>
                <a:latin typeface="Segoe UI"/>
                <a:ea typeface="メイリオ"/>
              </a:rPr>
              <a:t>外注増員 vs Claude活用拡大、議論事項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664208"/>
            <a:ext cx="4160520" cy="292608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1664208"/>
            <a:ext cx="45720" cy="29260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170992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C0392B"/>
                </a:solidFill>
                <a:latin typeface="Segoe UI"/>
                <a:ea typeface="メイリオ"/>
              </a:rPr>
              <a:t>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1691640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即対応: 認証基盤PJのモデル選定見直し (6月単月で兆候)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1819656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222824"/>
                </a:solidFill>
                <a:latin typeface="Segoe UI"/>
                <a:ea typeface="メイリオ"/>
              </a:rPr>
              <a:t>局所的な過剰利用の兆候 (詳細は別ダッシュボード)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914400"/>
            <a:ext cx="1357884" cy="109728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29883" y="914400"/>
            <a:ext cx="1357884" cy="109728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1005840"/>
            <a:ext cx="126644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B5C9A8"/>
                </a:solidFill>
                <a:latin typeface="Segoe UI"/>
                <a:ea typeface="メイリオ"/>
              </a:rPr>
              <a:t>前月までの累積コスト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1161288"/>
            <a:ext cx="1266443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B5C9A8"/>
                </a:solidFill>
                <a:latin typeface="Segoe UI"/>
                <a:ea typeface="メイリオ"/>
              </a:rPr>
              <a:t>(実績)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1335024"/>
            <a:ext cx="1357884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000" b="1">
                <a:solidFill>
                  <a:srgbClr val="F4B942"/>
                </a:solidFill>
                <a:latin typeface="Segoe UI"/>
                <a:ea typeface="メイリオ"/>
              </a:rPr>
              <a:t>1,890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1792224"/>
            <a:ext cx="1357884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B5C9A8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75603" y="987552"/>
            <a:ext cx="12664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年度末着地予測 (予測)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29883" y="1152144"/>
            <a:ext cx="135788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F3A2E"/>
                </a:solidFill>
                <a:latin typeface="Segoe UI"/>
                <a:ea typeface="メイリオ"/>
              </a:rPr>
              <a:t>8,640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29883" y="1481328"/>
            <a:ext cx="1357884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1F3A2E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75603" y="1627632"/>
            <a:ext cx="1266443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外注費用 5.4人月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75603" y="1801368"/>
            <a:ext cx="126644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1F3A2E"/>
                </a:solidFill>
                <a:latin typeface="Segoe UI"/>
                <a:ea typeface="メイリオ"/>
              </a:rPr>
              <a:t>(1,600 千円/月 換算)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224028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月次推移 (単月) — コスト × 採用コード行数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384048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月別実績 / 計画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385876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単位: [千円]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041648"/>
            <a:ext cx="7013448" cy="146304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4月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50264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5月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31847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6月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13432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7月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95016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8月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76599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9月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58183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10月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39768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11月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21352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12月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02936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1月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84519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2月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66104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3月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47688" y="4041648"/>
            <a:ext cx="6400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年間合計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4187952"/>
            <a:ext cx="7013448" cy="146304"/>
          </a:xfrm>
          <a:prstGeom prst="rect">
            <a:avLst/>
          </a:prstGeom>
          <a:solidFill>
            <a:srgbClr val="FFFFFF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4187952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22824"/>
                </a:solidFill>
                <a:latin typeface="Segoe UI"/>
                <a:ea typeface="メイリオ"/>
              </a:rPr>
              <a:t>当初計画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50264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31847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13432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95016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76599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58183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39768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21352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02936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84519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66104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47688" y="4187952"/>
            <a:ext cx="6400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A2E"/>
                </a:solidFill>
                <a:latin typeface="Segoe UI"/>
                <a:ea typeface="メイリオ"/>
              </a:rPr>
              <a:t>9,000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4334256"/>
            <a:ext cx="7013448" cy="146304"/>
          </a:xfrm>
          <a:prstGeom prst="rect">
            <a:avLst/>
          </a:prstGeom>
          <a:solidFill>
            <a:srgbClr val="E8EFE3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" y="4334256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22824"/>
                </a:solidFill>
                <a:latin typeface="Segoe UI"/>
                <a:ea typeface="メイリオ"/>
              </a:rPr>
              <a:t>実績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2313432" y="4041648"/>
            <a:ext cx="0" cy="438912"/>
          </a:xfrm>
          <a:prstGeom prst="line">
            <a:avLst/>
          </a:prstGeom>
          <a:ln w="1143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868680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580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350264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620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831847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690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313432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95016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276599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758183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239768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721352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202936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84519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66104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647688" y="4334256"/>
            <a:ext cx="6400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88E1F"/>
                </a:solidFill>
                <a:latin typeface="Segoe UI"/>
                <a:ea typeface="メイリオ"/>
              </a:rPr>
              <a:t>1,890*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4663440"/>
            <a:ext cx="7562088" cy="32004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0" y="4663440"/>
            <a:ext cx="54864" cy="32004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1168" y="4690872"/>
            <a:ext cx="274320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  <a:ea typeface="メイリオ"/>
              </a:rPr>
              <a:t>6月の実績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017520" y="4690872"/>
            <a:ext cx="438912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B5C9A8"/>
                </a:solidFill>
                <a:latin typeface="Segoe UI"/>
                <a:ea typeface="メイリオ"/>
              </a:rPr>
              <a:t>↓ 以下は 2026 年 6 月 単月のスナップショット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5120640"/>
            <a:ext cx="1645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74320" y="512064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47472" y="5166359"/>
            <a:ext cx="14996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6月 コスト [千円]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47472" y="5285231"/>
            <a:ext cx="149961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690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47472" y="5541264"/>
            <a:ext cx="10972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C88E1F"/>
                </a:solidFill>
                <a:latin typeface="Segoe UI"/>
                <a:ea typeface="メイリオ"/>
              </a:rPr>
              <a:t>+11.3%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47472" y="563270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5月 620 [千円]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066543" y="5120640"/>
            <a:ext cx="1645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066543" y="512064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39696" y="5166359"/>
            <a:ext cx="14996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ユーザー数 (アクティブ/登録)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139696" y="5285231"/>
            <a:ext cx="149961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12 / 18名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139696" y="5541264"/>
            <a:ext cx="10972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2E6F40"/>
                </a:solidFill>
                <a:latin typeface="Segoe UI"/>
                <a:ea typeface="メイリオ"/>
              </a:rPr>
              <a:t>+2 / +1名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139696" y="563270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5月 10 / 17名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858768" y="5120640"/>
            <a:ext cx="1645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858768" y="512064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931920" y="5166359"/>
            <a:ext cx="14996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6月 1人あたり月額 [千円]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931920" y="5285231"/>
            <a:ext cx="149961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57.5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931920" y="5541264"/>
            <a:ext cx="10972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2E6F40"/>
                </a:solidFill>
                <a:latin typeface="Segoe UI"/>
                <a:ea typeface="メイリオ"/>
              </a:rPr>
              <a:t>−4.5%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931920" y="563270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5月 62.0 [千円]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650992" y="5120640"/>
            <a:ext cx="1645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650992" y="512064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724144" y="5166359"/>
            <a:ext cx="14996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6月 1人あたり採用行数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724144" y="5285231"/>
            <a:ext cx="149961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1,667行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724144" y="5541264"/>
            <a:ext cx="10972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2E6F40"/>
                </a:solidFill>
                <a:latin typeface="Segoe UI"/>
                <a:ea typeface="メイリオ"/>
              </a:rPr>
              <a:t>+5%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724144" y="563270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5月 1,587行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274320" y="7635240"/>
            <a:ext cx="7013448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5" name="Connector 174"/>
          <p:cNvCxnSpPr/>
          <p:nvPr/>
        </p:nvCxnSpPr>
        <p:spPr>
          <a:xfrm>
            <a:off x="1097280" y="8869680"/>
            <a:ext cx="4572000" cy="0"/>
          </a:xfrm>
          <a:prstGeom prst="line">
            <a:avLst/>
          </a:prstGeom>
          <a:ln w="12700">
            <a:solidFill>
              <a:srgbClr val="1F3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97280" y="7909560"/>
            <a:ext cx="0" cy="960120"/>
          </a:xfrm>
          <a:prstGeom prst="line">
            <a:avLst/>
          </a:prstGeom>
          <a:ln w="12700">
            <a:solidFill>
              <a:srgbClr val="1F3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3383280" y="7909560"/>
            <a:ext cx="0" cy="960120"/>
          </a:xfrm>
          <a:prstGeom prst="line">
            <a:avLst/>
          </a:prstGeom>
          <a:ln w="635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097280" y="8389620"/>
            <a:ext cx="4572000" cy="0"/>
          </a:xfrm>
          <a:prstGeom prst="line">
            <a:avLst/>
          </a:prstGeom>
          <a:ln w="635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extBox 178"/>
          <p:cNvSpPr txBox="1"/>
          <p:nvPr/>
        </p:nvSpPr>
        <p:spPr>
          <a:xfrm>
            <a:off x="320040" y="8115300"/>
            <a:ext cx="7315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1">
                <a:solidFill>
                  <a:srgbClr val="1F3A2E"/>
                </a:solidFill>
                <a:latin typeface="Segoe UI"/>
                <a:ea typeface="メイリオ"/>
              </a:rPr>
              <a:t>↑ 効率
(行/コスト)</a:t>
            </a:r>
          </a:p>
        </p:txBody>
      </p:sp>
      <p:sp>
        <p:nvSpPr>
          <p:cNvPr id="180" name="Oval 179"/>
          <p:cNvSpPr/>
          <p:nvPr/>
        </p:nvSpPr>
        <p:spPr>
          <a:xfrm>
            <a:off x="4974336" y="7931505"/>
            <a:ext cx="109728" cy="109728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5140756" y="8049463"/>
            <a:ext cx="142646" cy="142646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4697272" y="8034375"/>
            <a:ext cx="115214" cy="115214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4522622" y="8013801"/>
            <a:ext cx="98755" cy="98755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4245559" y="8116671"/>
            <a:ext cx="104241" cy="104241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4162348" y="8192109"/>
            <a:ext cx="87782" cy="87782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3699662" y="8205825"/>
            <a:ext cx="98755" cy="98755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3457346" y="8230514"/>
            <a:ext cx="126187" cy="126187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3226003" y="8266176"/>
            <a:ext cx="131673" cy="131673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2946196" y="8270290"/>
            <a:ext cx="142646" cy="142646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2712110" y="8332012"/>
            <a:ext cx="153619" cy="153619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2475280" y="8275777"/>
            <a:ext cx="170078" cy="170078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2023567" y="8415680"/>
            <a:ext cx="159105" cy="159105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4837176" y="7902702"/>
            <a:ext cx="109728" cy="109728"/>
          </a:xfrm>
          <a:prstGeom prst="ellipse">
            <a:avLst/>
          </a:prstGeom>
          <a:solidFill>
            <a:srgbClr val="F4B942"/>
          </a:solidFill>
          <a:ln>
            <a:solidFill>
              <a:srgbClr val="C88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4965192" y="7875270"/>
            <a:ext cx="594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C88E1F"/>
                </a:solidFill>
                <a:latin typeface="Segoe UI"/>
                <a:ea typeface="メイリオ"/>
              </a:rPr>
              <a:t>当チーム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143000" y="769010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E6F40"/>
                </a:solidFill>
                <a:latin typeface="Segoe UI"/>
                <a:ea typeface="メイリオ"/>
              </a:rPr>
              <a:t>▼ 低使用 × 高効率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3474720" y="769010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6F40"/>
                </a:solidFill>
                <a:latin typeface="Segoe UI"/>
                <a:ea typeface="メイリオ"/>
              </a:rPr>
              <a:t>高使用 × 高効率 ▼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143000" y="901598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C88E1F"/>
                </a:solidFill>
                <a:latin typeface="Segoe UI"/>
                <a:ea typeface="メイリオ"/>
              </a:rPr>
              <a:t>▲ 低使用 × 低効率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3474720" y="901598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C88E1F"/>
                </a:solidFill>
                <a:latin typeface="Segoe UI"/>
                <a:ea typeface="メイリオ"/>
              </a:rPr>
              <a:t>高使用 × 低効率 ▲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2468880" y="9116567"/>
            <a:ext cx="182880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50" b="0">
                <a:solidFill>
                  <a:srgbClr val="6B6B6B"/>
                </a:solidFill>
                <a:latin typeface="Segoe UI"/>
                <a:ea typeface="メイリオ"/>
              </a:rPr>
              <a:t>バブル径 = 1人あたりコスト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274320" y="9509760"/>
            <a:ext cx="3438144" cy="109728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365760" y="9555480"/>
            <a:ext cx="3255263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B5C9A8"/>
                </a:solidFill>
                <a:latin typeface="Segoe UI"/>
                <a:ea typeface="メイリオ"/>
              </a:rPr>
              <a:t>当チーム実績 (6月)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365760" y="9701784"/>
            <a:ext cx="3255263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4B942"/>
                </a:solidFill>
                <a:latin typeface="Segoe UI"/>
                <a:ea typeface="メイリオ"/>
              </a:rPr>
              <a:t>690 [千円] → 20,000行</a:t>
            </a:r>
          </a:p>
        </p:txBody>
      </p:sp>
      <p:cxnSp>
        <p:nvCxnSpPr>
          <p:cNvPr id="203" name="Connector 202"/>
          <p:cNvCxnSpPr/>
          <p:nvPr/>
        </p:nvCxnSpPr>
        <p:spPr>
          <a:xfrm>
            <a:off x="365760" y="9966960"/>
            <a:ext cx="3255263" cy="0"/>
          </a:xfrm>
          <a:prstGeom prst="line">
            <a:avLst/>
          </a:prstGeom>
          <a:ln w="635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TextBox 203"/>
          <p:cNvSpPr txBox="1"/>
          <p:nvPr/>
        </p:nvSpPr>
        <p:spPr>
          <a:xfrm>
            <a:off x="365760" y="9985248"/>
            <a:ext cx="325526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  <a:ea typeface="メイリオ"/>
              </a:rPr>
              <a:t>外注費用換算 (1,600 千円/人月)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365760" y="10149840"/>
            <a:ext cx="3255263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4B942"/>
                </a:solidFill>
                <a:latin typeface="Segoe UI"/>
                <a:ea typeface="メイリオ"/>
              </a:rPr>
              <a:t>約 32,000 [千円] 相当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365760" y="10424160"/>
            <a:ext cx="325526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B5C9A8"/>
                </a:solidFill>
                <a:latin typeface="Segoe UI"/>
                <a:ea typeface="メイリオ"/>
              </a:rPr>
              <a:t>20人月 × 1,600 千円/人月 (新規開発上位25% 1,000行/人月 基準)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274320" y="5943600"/>
            <a:ext cx="227685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274320" y="5943600"/>
            <a:ext cx="227685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347472" y="6007608"/>
            <a:ext cx="1545335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1F3A2E"/>
                </a:solidFill>
                <a:latin typeface="Segoe UI"/>
                <a:ea typeface="メイリオ"/>
              </a:rPr>
              <a:t>6月 コスト TOP5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1819655" y="6007608"/>
            <a:ext cx="640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229" name="Oval 228"/>
          <p:cNvSpPr/>
          <p:nvPr/>
        </p:nvSpPr>
        <p:spPr>
          <a:xfrm>
            <a:off x="347472" y="6254496"/>
            <a:ext cx="164592" cy="16459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347472" y="625449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557784" y="623620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911095" y="623620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130</a:t>
            </a:r>
          </a:p>
        </p:txBody>
      </p:sp>
      <p:sp>
        <p:nvSpPr>
          <p:cNvPr id="233" name="Oval 232"/>
          <p:cNvSpPr/>
          <p:nvPr/>
        </p:nvSpPr>
        <p:spPr>
          <a:xfrm>
            <a:off x="347472" y="6437376"/>
            <a:ext cx="164592" cy="164592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347472" y="643737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57784" y="641908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1911095" y="641908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108</a:t>
            </a:r>
          </a:p>
        </p:txBody>
      </p:sp>
      <p:sp>
        <p:nvSpPr>
          <p:cNvPr id="237" name="Oval 236"/>
          <p:cNvSpPr/>
          <p:nvPr/>
        </p:nvSpPr>
        <p:spPr>
          <a:xfrm>
            <a:off x="347472" y="6620256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347472" y="662025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557784" y="660196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911095" y="660196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92</a:t>
            </a:r>
          </a:p>
        </p:txBody>
      </p:sp>
      <p:sp>
        <p:nvSpPr>
          <p:cNvPr id="241" name="Oval 240"/>
          <p:cNvSpPr/>
          <p:nvPr/>
        </p:nvSpPr>
        <p:spPr>
          <a:xfrm>
            <a:off x="347472" y="680313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347472" y="680313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557784" y="678484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1911095" y="678484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78</a:t>
            </a:r>
          </a:p>
        </p:txBody>
      </p:sp>
      <p:sp>
        <p:nvSpPr>
          <p:cNvPr id="245" name="Oval 244"/>
          <p:cNvSpPr/>
          <p:nvPr/>
        </p:nvSpPr>
        <p:spPr>
          <a:xfrm>
            <a:off x="347472" y="698601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347472" y="698601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557784" y="696772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911095" y="696772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64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2642615" y="5943600"/>
            <a:ext cx="227685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2642615" y="5943600"/>
            <a:ext cx="227685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2715768" y="6007608"/>
            <a:ext cx="1545335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1F3A2E"/>
                </a:solidFill>
                <a:latin typeface="Segoe UI"/>
                <a:ea typeface="メイリオ"/>
              </a:rPr>
              <a:t>6月 生成行 TOP5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4187951" y="6007608"/>
            <a:ext cx="640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[行]</a:t>
            </a:r>
          </a:p>
        </p:txBody>
      </p:sp>
      <p:sp>
        <p:nvSpPr>
          <p:cNvPr id="253" name="Oval 252"/>
          <p:cNvSpPr/>
          <p:nvPr/>
        </p:nvSpPr>
        <p:spPr>
          <a:xfrm>
            <a:off x="2715768" y="6254496"/>
            <a:ext cx="164592" cy="16459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2715768" y="625449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2926079" y="623620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4279391" y="623620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4,500</a:t>
            </a:r>
          </a:p>
        </p:txBody>
      </p:sp>
      <p:sp>
        <p:nvSpPr>
          <p:cNvPr id="257" name="Oval 256"/>
          <p:cNvSpPr/>
          <p:nvPr/>
        </p:nvSpPr>
        <p:spPr>
          <a:xfrm>
            <a:off x="2715768" y="6437376"/>
            <a:ext cx="164592" cy="164592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2715768" y="643737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2926079" y="641908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4279391" y="641908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4,200</a:t>
            </a:r>
          </a:p>
        </p:txBody>
      </p:sp>
      <p:sp>
        <p:nvSpPr>
          <p:cNvPr id="261" name="Oval 260"/>
          <p:cNvSpPr/>
          <p:nvPr/>
        </p:nvSpPr>
        <p:spPr>
          <a:xfrm>
            <a:off x="2715768" y="6620256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2715768" y="662025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2926079" y="660196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4279391" y="660196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2,800</a:t>
            </a:r>
          </a:p>
        </p:txBody>
      </p:sp>
      <p:sp>
        <p:nvSpPr>
          <p:cNvPr id="265" name="Oval 264"/>
          <p:cNvSpPr/>
          <p:nvPr/>
        </p:nvSpPr>
        <p:spPr>
          <a:xfrm>
            <a:off x="2715768" y="680313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2715768" y="680313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2926079" y="678484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4279391" y="678484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2,200</a:t>
            </a:r>
          </a:p>
        </p:txBody>
      </p:sp>
      <p:sp>
        <p:nvSpPr>
          <p:cNvPr id="269" name="Oval 268"/>
          <p:cNvSpPr/>
          <p:nvPr/>
        </p:nvSpPr>
        <p:spPr>
          <a:xfrm>
            <a:off x="2715768" y="698601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2715768" y="698601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2926079" y="696772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4279391" y="696772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1,750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5010912" y="5943600"/>
            <a:ext cx="227685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5010912" y="5943600"/>
            <a:ext cx="227685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5084064" y="6007608"/>
            <a:ext cx="1545335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1F3A2E"/>
                </a:solidFill>
                <a:latin typeface="Segoe UI"/>
                <a:ea typeface="メイリオ"/>
              </a:rPr>
              <a:t>6月 効率 TOP5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6556247" y="6007608"/>
            <a:ext cx="640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[行/千円]</a:t>
            </a:r>
          </a:p>
        </p:txBody>
      </p:sp>
      <p:sp>
        <p:nvSpPr>
          <p:cNvPr id="277" name="Oval 276"/>
          <p:cNvSpPr/>
          <p:nvPr/>
        </p:nvSpPr>
        <p:spPr>
          <a:xfrm>
            <a:off x="5084064" y="6254496"/>
            <a:ext cx="164592" cy="16459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5084064" y="625449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5294375" y="623620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6647687" y="623620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41.7</a:t>
            </a:r>
          </a:p>
        </p:txBody>
      </p:sp>
      <p:sp>
        <p:nvSpPr>
          <p:cNvPr id="281" name="Oval 280"/>
          <p:cNvSpPr/>
          <p:nvPr/>
        </p:nvSpPr>
        <p:spPr>
          <a:xfrm>
            <a:off x="5084064" y="6437376"/>
            <a:ext cx="164592" cy="164592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5084064" y="643737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5294375" y="641908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6647687" y="641908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32.3</a:t>
            </a:r>
          </a:p>
        </p:txBody>
      </p:sp>
      <p:sp>
        <p:nvSpPr>
          <p:cNvPr id="285" name="Oval 284"/>
          <p:cNvSpPr/>
          <p:nvPr/>
        </p:nvSpPr>
        <p:spPr>
          <a:xfrm>
            <a:off x="5084064" y="6620256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5084064" y="662025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5294375" y="660196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6647687" y="660196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30.4</a:t>
            </a:r>
          </a:p>
        </p:txBody>
      </p:sp>
      <p:sp>
        <p:nvSpPr>
          <p:cNvPr id="289" name="Oval 288"/>
          <p:cNvSpPr/>
          <p:nvPr/>
        </p:nvSpPr>
        <p:spPr>
          <a:xfrm>
            <a:off x="5084064" y="680313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5084064" y="680313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5294375" y="678484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6647687" y="678484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28.2</a:t>
            </a:r>
          </a:p>
        </p:txBody>
      </p:sp>
      <p:sp>
        <p:nvSpPr>
          <p:cNvPr id="293" name="Oval 292"/>
          <p:cNvSpPr/>
          <p:nvPr/>
        </p:nvSpPr>
        <p:spPr>
          <a:xfrm>
            <a:off x="5084064" y="698601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5084064" y="698601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5294375" y="696772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6647687" y="696772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27.3</a:t>
            </a:r>
          </a:p>
        </p:txBody>
      </p:sp>
      <p:pic>
        <p:nvPicPr>
          <p:cNvPr id="297" name="Picture 296" descr="v11r10_tr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423160"/>
            <a:ext cx="7013448" cy="1234440"/>
          </a:xfrm>
          <a:prstGeom prst="rect">
            <a:avLst/>
          </a:prstGeom>
        </p:spPr>
      </p:pic>
      <p:sp>
        <p:nvSpPr>
          <p:cNvPr id="298" name="TextBox 297"/>
          <p:cNvSpPr txBox="1"/>
          <p:nvPr/>
        </p:nvSpPr>
        <p:spPr>
          <a:xfrm>
            <a:off x="274320" y="7360920"/>
            <a:ext cx="7013448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Segoe UI"/>
                <a:ea typeface="メイリオ"/>
              </a:rPr>
              <a:t>全社14チームのポジショニング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5166360" y="8869680"/>
            <a:ext cx="50292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1">
                <a:solidFill>
                  <a:srgbClr val="1F3A2E"/>
                </a:solidFill>
                <a:latin typeface="Segoe UI"/>
                <a:ea typeface="メイリオ"/>
              </a:rPr>
              <a:t>→ 使用率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3849624" y="9509760"/>
            <a:ext cx="3438144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3941063" y="9555480"/>
            <a:ext cx="32552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3A2E"/>
                </a:solidFill>
                <a:latin typeface="Segoe UI"/>
                <a:ea typeface="メイリオ"/>
              </a:rPr>
              <a:t>【参考】 IPA分析  </a:t>
            </a:r>
            <a:r>
              <a:rPr sz="550" b="0">
                <a:solidFill>
                  <a:srgbClr val="1F3A2E"/>
                </a:solidFill>
                <a:latin typeface="Segoe UI"/>
                <a:ea typeface="メイリオ"/>
              </a:rPr>
              <a:t>https://www.ipa.go.jp/digital/software-survey/metrics/hjuojm000000c6it-att/000102171.pdf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3941063" y="9875520"/>
            <a:ext cx="3255263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 b="0">
                <a:solidFill>
                  <a:srgbClr val="6B6B6B"/>
                </a:solidFill>
                <a:latin typeface="Segoe UI"/>
                <a:ea typeface="メイリオ"/>
              </a:rPr>
              <a:t>※ 品質・複雑度・業務特性・言語差分は考慮されない単純比較</a:t>
            </a:r>
          </a:p>
        </p:txBody>
      </p:sp>
      <p:sp>
        <p:nvSpPr>
          <p:cNvPr id="303" name="Rectangle 302"/>
          <p:cNvSpPr/>
          <p:nvPr/>
        </p:nvSpPr>
        <p:spPr>
          <a:xfrm>
            <a:off x="3941063" y="10058400"/>
            <a:ext cx="3255263" cy="219456"/>
          </a:xfrm>
          <a:prstGeom prst="rect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3941063" y="10058400"/>
            <a:ext cx="45720" cy="219456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3941063" y="10232136"/>
            <a:ext cx="2604211" cy="36576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4032503" y="10094976"/>
            <a:ext cx="14173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改良開発上位25%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5916167" y="10094976"/>
            <a:ext cx="11887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約 800 行/月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3941063" y="10351008"/>
            <a:ext cx="3255263" cy="219456"/>
          </a:xfrm>
          <a:prstGeom prst="rect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3941063" y="10351008"/>
            <a:ext cx="45720" cy="219456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3941063" y="10524744"/>
            <a:ext cx="3255263" cy="36576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4032503" y="10387584"/>
            <a:ext cx="14173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新規開発上位25%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5916167" y="10387584"/>
            <a:ext cx="11887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約 1,000 行/月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