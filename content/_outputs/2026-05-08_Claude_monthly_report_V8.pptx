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V8 (revision 2) — based on V7 (claude_usage_report_202603.pptx, 2026-04-29).</a:t>
            </a:r>
          </a:p>
          <a:p>
            <a:r>
              <a:t>Changes vs V7:</a:t>
            </a:r>
          </a:p>
          <a:p>
            <a:r>
              <a:t>  - REMOVED: 当チーム モデル別利用比率 chart (Opus 52→38%)</a:t>
            </a:r>
          </a:p>
          <a:p>
            <a:r>
              <a:t>  - REMOVED: 全社14チーム Opus比率分布 panel</a:t>
            </a:r>
          </a:p>
          <a:p>
            <a:r>
              <a:t>  - REMOVED: チーム代表まとめ (リーダーコメント) panel</a:t>
            </a:r>
          </a:p>
          <a:p>
            <a:r>
              <a:t>  - SPLIT:   single 効率Top3 → 3 panels (コスト/生成行/効率)</a:t>
            </a:r>
          </a:p>
          <a:p>
            <a:r>
              <a:t>  - REDESIGNED: 14チームマッピング — 1メッセージ集中、明確な軸ラベル、</a:t>
            </a:r>
          </a:p>
          <a:p>
            <a:r>
              <a:t>                チーム名直接ラベル、4象限の意味文を併記</a:t>
            </a:r>
          </a:p>
          <a:p>
            <a:r>
              <a:t>V8 rev2 update (configured per user feedback):</a:t>
            </a:r>
          </a:p>
          <a:p>
            <a:r>
              <a:t>  - Team mapping colors collapsed from 4 to 2:</a:t>
            </a:r>
          </a:p>
          <a:p>
            <a:r>
              <a:t>      当チーム = Amber #F4B942 (focal),</a:t>
            </a:r>
          </a:p>
          <a:p>
            <a:r>
              <a:t>      他13チーム = Sage Green #A8B8A0 (uniform).</a:t>
            </a:r>
          </a:p>
          <a:p>
            <a:r>
              <a:t>  - Quadrant captions kept; recolored to muted gray.</a:t>
            </a:r>
          </a:p>
          <a:p>
            <a:r>
              <a:t>  - Legend simplified to 2 items (当チーム / 他チーム).</a:t>
            </a:r>
          </a:p>
          <a:p>
            <a:r>
              <a:t>Data preserved 1:1 from V7: 月次推移6点, KPI 4枚, ¥9.9M予測, ¥822k/26,000行,</a:t>
            </a:r>
          </a:p>
          <a:p>
            <a:r>
              <a:t>Top3 (B 41.7 / A 32.3 / C 30.4 行/¥1k), 公開研究3水準。</a:t>
            </a:r>
          </a:p>
          <a:p>
            <a:r>
              <a:t>Team mapping bubble positions match V7 exactly; team names anonymized</a:t>
            </a:r>
          </a:p>
          <a:p>
            <a:r>
              <a:t>as チームA-N because V7 also did not show real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54864" cy="45720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3A2E"/>
                </a:solidFill>
                <a:latin typeface="Segoe UI"/>
                <a:ea typeface="メイリオ"/>
              </a:rPr>
              <a:t>Claude Code 月次利用量レポート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5080" y="219456"/>
            <a:ext cx="932688" cy="310896"/>
          </a:xfrm>
          <a:prstGeom prst="roundRect">
            <a:avLst>
              <a:gd name="adj" fmla="val 30000"/>
            </a:avLst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5080" y="246888"/>
            <a:ext cx="93268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4B942"/>
                </a:solidFill>
                <a:latin typeface="Segoe UI"/>
                <a:ea typeface="メイリオ"/>
              </a:rPr>
              <a:t>V8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594360"/>
            <a:ext cx="6858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Segoe UI"/>
                <a:ea typeface="メイリオ"/>
              </a:rPr>
              <a:t>2026年3月度  /  報告者: Ogata  /  報告日: 2026-05-08  /  対象期間: 2026/03/01 - 03/31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" y="841248"/>
            <a:ext cx="7013448" cy="0"/>
          </a:xfrm>
          <a:prstGeom prst="line">
            <a:avLst/>
          </a:prstGeom>
          <a:ln w="1270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4320" y="914400"/>
            <a:ext cx="4297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Segoe UI"/>
                <a:ea typeface="メイリオ"/>
              </a:rPr>
              <a:t>今月のジャッジ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097280"/>
            <a:ext cx="4297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Segoe UI"/>
                <a:ea typeface="メイリオ"/>
              </a:rPr>
              <a:t>数字から見えること — チームでの議論材料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98448"/>
            <a:ext cx="4297680" cy="393192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298448"/>
            <a:ext cx="45720" cy="393192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" y="135331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2E6F40"/>
                </a:solidFill>
                <a:latin typeface="Segoe UI"/>
                <a:ea typeface="メイリオ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325880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Segoe UI"/>
                <a:ea typeface="メイリオ"/>
              </a:rPr>
              <a:t>効率性は改善傾向 (継続観測中)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499616"/>
            <a:ext cx="3749039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22824"/>
                </a:solidFill>
                <a:latin typeface="Segoe UI"/>
                <a:ea typeface="メイリオ"/>
              </a:rPr>
              <a:t>過去6ヶ月でコスト2.3倍に対し採用行数3.7倍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728216"/>
            <a:ext cx="4297680" cy="393192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1728216"/>
            <a:ext cx="45720" cy="393192"/>
          </a:xfrm>
          <a:prstGeom prst="rect">
            <a:avLst/>
          </a:prstGeom>
          <a:solidFill>
            <a:srgbClr val="C88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178308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C88E1F"/>
                </a:solidFill>
                <a:latin typeface="Segoe UI"/>
                <a:ea typeface="メイリオ"/>
              </a:rPr>
              <a:t>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1755648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Segoe UI"/>
                <a:ea typeface="メイリオ"/>
              </a:rPr>
              <a:t>来期の投資規模: ミドル6.6人月相当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1929384"/>
            <a:ext cx="3749039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22824"/>
                </a:solidFill>
                <a:latin typeface="Segoe UI"/>
                <a:ea typeface="メイリオ"/>
              </a:rPr>
              <a:t>ミドル増員 vs Claude活用拡大、議論事項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157984"/>
            <a:ext cx="4297680" cy="393192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2157984"/>
            <a:ext cx="45720" cy="3931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" y="22128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C0392B"/>
                </a:solidFill>
                <a:latin typeface="Segoe UI"/>
                <a:ea typeface="メイリオ"/>
              </a:rPr>
              <a:t>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2185415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Segoe UI"/>
                <a:ea typeface="メイリオ"/>
              </a:rPr>
              <a:t>即対応: 認証基盤PJのモデル選定見直し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2359152"/>
            <a:ext cx="3749039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22824"/>
                </a:solidFill>
                <a:latin typeface="Segoe UI"/>
                <a:ea typeface="メイリオ"/>
              </a:rPr>
              <a:t>局所的な過剰利用の兆候 (詳細は別ダッシュボード)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1298448"/>
            <a:ext cx="2624328" cy="132588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1353312"/>
            <a:ext cx="2441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5C9A8"/>
                </a:solidFill>
                <a:latin typeface="Segoe UI"/>
                <a:ea typeface="メイリオ"/>
              </a:rPr>
              <a:t>年度末着地予測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1517904"/>
            <a:ext cx="26243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F4B942"/>
                </a:solidFill>
                <a:latin typeface="Segoe UI"/>
                <a:ea typeface="メイリオ"/>
              </a:rPr>
              <a:t>¥9.9M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937760" y="2075688"/>
            <a:ext cx="2075688" cy="0"/>
          </a:xfrm>
          <a:prstGeom prst="line">
            <a:avLst/>
          </a:prstGeom>
          <a:ln w="635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663440" y="2103120"/>
            <a:ext cx="26243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  <a:ea typeface="メイリオ"/>
              </a:rPr>
              <a:t>≈ ミドル人材 6.6人月分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2295144"/>
            <a:ext cx="2624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B5C9A8"/>
                </a:solidFill>
                <a:latin typeface="Segoe UI"/>
                <a:ea typeface="メイリオ"/>
              </a:rPr>
              <a:t>¥1.5M/月換算 / 現行ペース×12ヶ月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2459736"/>
            <a:ext cx="2624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4B942"/>
                </a:solidFill>
                <a:latin typeface="Segoe UI"/>
                <a:ea typeface="メイリオ"/>
              </a:rPr>
              <a:t>投資判断: 人を雇うか / Claude活用拡大か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2743200"/>
            <a:ext cx="1645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274320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" y="2788920"/>
            <a:ext cx="1499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Segoe UI"/>
                <a:ea typeface="メイリオ"/>
              </a:rPr>
              <a:t>総コスト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" y="2926080"/>
            <a:ext cx="1499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F3A2E"/>
                </a:solidFill>
                <a:latin typeface="Segoe UI"/>
                <a:ea typeface="メイリオ"/>
              </a:rPr>
              <a:t>¥822k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" y="3200400"/>
            <a:ext cx="9052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88E1F"/>
                </a:solidFill>
                <a:latin typeface="Segoe UI"/>
                <a:ea typeface="メイリオ"/>
              </a:rPr>
              <a:t>+19.0%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" y="3310128"/>
            <a:ext cx="14996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vs 前月 ¥691k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66543" y="2743200"/>
            <a:ext cx="1645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066543" y="274320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39696" y="2788920"/>
            <a:ext cx="1499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Segoe UI"/>
                <a:ea typeface="メイリオ"/>
              </a:rPr>
              <a:t>アクティブユーザー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39696" y="2926080"/>
            <a:ext cx="1499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F3A2E"/>
                </a:solidFill>
                <a:latin typeface="Segoe UI"/>
                <a:ea typeface="メイリオ"/>
              </a:rPr>
              <a:t>12名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39696" y="3200400"/>
            <a:ext cx="9052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E6F40"/>
                </a:solidFill>
                <a:latin typeface="Segoe UI"/>
                <a:ea typeface="メイリオ"/>
              </a:rPr>
              <a:t>+2名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39696" y="3310128"/>
            <a:ext cx="14996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vs 前月 10名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58768" y="2743200"/>
            <a:ext cx="1645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858768" y="274320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31920" y="2788920"/>
            <a:ext cx="1499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Segoe UI"/>
                <a:ea typeface="メイリオ"/>
              </a:rPr>
              <a:t>1人あたり月額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31920" y="2926080"/>
            <a:ext cx="1499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F3A2E"/>
                </a:solidFill>
                <a:latin typeface="Segoe UI"/>
                <a:ea typeface="メイリオ"/>
              </a:rPr>
              <a:t>¥68.5k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3200400"/>
            <a:ext cx="9052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E6F40"/>
                </a:solidFill>
                <a:latin typeface="Segoe UI"/>
                <a:ea typeface="メイリオ"/>
              </a:rPr>
              <a:t>−1.2%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31920" y="3310128"/>
            <a:ext cx="14996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vs 前月 ¥69.1k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50992" y="2743200"/>
            <a:ext cx="1645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650992" y="274320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24144" y="2788920"/>
            <a:ext cx="1499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Segoe UI"/>
                <a:ea typeface="メイリオ"/>
              </a:rPr>
              <a:t>1人あたり採用行数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24144" y="2926080"/>
            <a:ext cx="1499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F3A2E"/>
                </a:solidFill>
                <a:latin typeface="Segoe UI"/>
                <a:ea typeface="メイリオ"/>
              </a:rPr>
              <a:t>2,180行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24144" y="3200400"/>
            <a:ext cx="9052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E6F40"/>
                </a:solidFill>
                <a:latin typeface="Segoe UI"/>
                <a:ea typeface="メイリオ"/>
              </a:rPr>
              <a:t>+18%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24144" y="3310128"/>
            <a:ext cx="14996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全社平均 1,520行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4320" y="3584448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Segoe UI"/>
                <a:ea typeface="メイリオ"/>
              </a:rPr>
              <a:t>月次推移 — コスト × 採用コード行数 (過去6ヶ月)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0" y="3584448"/>
            <a:ext cx="22585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C88E1F"/>
                </a:solidFill>
                <a:latin typeface="Segoe UI"/>
                <a:ea typeface="メイリオ"/>
              </a:rPr>
              <a:t>コスト 2.3倍 vs 採用行数 3.7倍 = 効率改善継続</a:t>
            </a:r>
          </a:p>
        </p:txBody>
      </p:sp>
      <p:pic>
        <p:nvPicPr>
          <p:cNvPr id="58" name="Picture 57" descr="v8_monthl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813048"/>
            <a:ext cx="7013448" cy="1216152"/>
          </a:xfrm>
          <a:prstGeom prst="rect">
            <a:avLst/>
          </a:prstGeom>
        </p:spPr>
      </p:pic>
      <p:sp>
        <p:nvSpPr>
          <p:cNvPr id="59" name="Rectangle 58"/>
          <p:cNvSpPr/>
          <p:nvPr/>
        </p:nvSpPr>
        <p:spPr>
          <a:xfrm>
            <a:off x="274320" y="5166360"/>
            <a:ext cx="7013448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5212080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全社14チームのポジショニング — 当チームは右上の理想ゾーン、下位3チームに導入支援余地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" y="5413248"/>
            <a:ext cx="6858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X軸: Claude利用量 (相対) →   /   Y軸: 効率 [採用行数 ÷ コスト] ↑   /   バブル径: 1人あたりコスト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1005840" y="7498079"/>
            <a:ext cx="4754880" cy="0"/>
          </a:xfrm>
          <a:prstGeom prst="line">
            <a:avLst/>
          </a:prstGeom>
          <a:ln w="12700">
            <a:solidFill>
              <a:srgbClr val="1F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05840" y="5623560"/>
            <a:ext cx="0" cy="1874519"/>
          </a:xfrm>
          <a:prstGeom prst="line">
            <a:avLst/>
          </a:prstGeom>
          <a:ln w="12700">
            <a:solidFill>
              <a:srgbClr val="1F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3383280" y="5623560"/>
            <a:ext cx="0" cy="1874519"/>
          </a:xfrm>
          <a:prstGeom prst="line">
            <a:avLst/>
          </a:prstGeom>
          <a:ln w="635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005840" y="6560820"/>
            <a:ext cx="4754880" cy="0"/>
          </a:xfrm>
          <a:prstGeom prst="line">
            <a:avLst/>
          </a:prstGeom>
          <a:ln w="635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4389120" y="7543800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1F3A2E"/>
                </a:solidFill>
                <a:latin typeface="Segoe UI"/>
                <a:ea typeface="メイリオ"/>
              </a:rPr>
              <a:t>→ Claude利用量 (大)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0120" y="7543800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(小)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7160" y="6195060"/>
            <a:ext cx="822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>
                <a:solidFill>
                  <a:srgbClr val="1F3A2E"/>
                </a:solidFill>
                <a:latin typeface="Segoe UI"/>
                <a:ea typeface="メイリオ"/>
              </a:rPr>
              <a:t>↑ 効率
(行/コスト)
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21024" y="5698540"/>
            <a:ext cx="199704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B6B6B"/>
                </a:solidFill>
                <a:latin typeface="Segoe UI"/>
                <a:ea typeface="メイリオ"/>
              </a:rPr>
              <a:t>活用優等生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21024" y="5844844"/>
            <a:ext cx="199704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高利用 × 高効率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96035" y="5698540"/>
            <a:ext cx="199704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B6B6B"/>
                </a:solidFill>
                <a:latin typeface="Segoe UI"/>
                <a:ea typeface="メイリオ"/>
              </a:rPr>
              <a:t>効率派・規模小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96035" y="5844844"/>
            <a:ext cx="199704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低利用 × 高効率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96035" y="7085685"/>
            <a:ext cx="199704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B6B6B"/>
                </a:solidFill>
                <a:latin typeface="Segoe UI"/>
                <a:ea typeface="メイリオ"/>
              </a:rPr>
              <a:t>要支援 (未活用)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96035" y="7231989"/>
            <a:ext cx="199704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低利用 × 低効率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21024" y="7085685"/>
            <a:ext cx="199704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B6B6B"/>
                </a:solidFill>
                <a:latin typeface="Segoe UI"/>
                <a:ea typeface="メイリオ"/>
              </a:rPr>
              <a:t>コスト先行・低効率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621024" y="7231989"/>
            <a:ext cx="199704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高利用 × 低効率</a:t>
            </a:r>
          </a:p>
        </p:txBody>
      </p:sp>
      <p:sp>
        <p:nvSpPr>
          <p:cNvPr id="77" name="Oval 76"/>
          <p:cNvSpPr/>
          <p:nvPr/>
        </p:nvSpPr>
        <p:spPr>
          <a:xfrm>
            <a:off x="5003596" y="5682081"/>
            <a:ext cx="182880" cy="182880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204764" y="5645505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チームB</a:t>
            </a:r>
          </a:p>
        </p:txBody>
      </p:sp>
      <p:sp>
        <p:nvSpPr>
          <p:cNvPr id="79" name="Oval 78"/>
          <p:cNvSpPr/>
          <p:nvPr/>
        </p:nvSpPr>
        <p:spPr>
          <a:xfrm>
            <a:off x="5166360" y="5917082"/>
            <a:ext cx="237744" cy="237744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663440" y="588050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チームC</a:t>
            </a:r>
          </a:p>
        </p:txBody>
      </p:sp>
      <p:sp>
        <p:nvSpPr>
          <p:cNvPr id="81" name="Oval 80"/>
          <p:cNvSpPr/>
          <p:nvPr/>
        </p:nvSpPr>
        <p:spPr>
          <a:xfrm>
            <a:off x="4713731" y="5883706"/>
            <a:ext cx="192024" cy="192024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924043" y="5847130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チームD</a:t>
            </a:r>
          </a:p>
        </p:txBody>
      </p:sp>
      <p:sp>
        <p:nvSpPr>
          <p:cNvPr id="83" name="Oval 82"/>
          <p:cNvSpPr/>
          <p:nvPr/>
        </p:nvSpPr>
        <p:spPr>
          <a:xfrm>
            <a:off x="4537252" y="5841187"/>
            <a:ext cx="164592" cy="164592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720132" y="5804611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チームE</a:t>
            </a:r>
          </a:p>
        </p:txBody>
      </p:sp>
      <p:sp>
        <p:nvSpPr>
          <p:cNvPr id="85" name="Oval 84"/>
          <p:cNvSpPr/>
          <p:nvPr/>
        </p:nvSpPr>
        <p:spPr>
          <a:xfrm>
            <a:off x="4247388" y="6042812"/>
            <a:ext cx="173736" cy="173736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439412" y="600623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チームF</a:t>
            </a:r>
          </a:p>
        </p:txBody>
      </p:sp>
      <p:sp>
        <p:nvSpPr>
          <p:cNvPr id="87" name="Oval 86"/>
          <p:cNvSpPr/>
          <p:nvPr/>
        </p:nvSpPr>
        <p:spPr>
          <a:xfrm>
            <a:off x="4166006" y="6187744"/>
            <a:ext cx="146304" cy="146304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330598" y="6151168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チームG</a:t>
            </a:r>
          </a:p>
        </p:txBody>
      </p:sp>
      <p:sp>
        <p:nvSpPr>
          <p:cNvPr id="89" name="Oval 88"/>
          <p:cNvSpPr/>
          <p:nvPr/>
        </p:nvSpPr>
        <p:spPr>
          <a:xfrm>
            <a:off x="3681374" y="6216091"/>
            <a:ext cx="164592" cy="164592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864254" y="6179515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チームH</a:t>
            </a:r>
          </a:p>
        </p:txBody>
      </p:sp>
      <p:sp>
        <p:nvSpPr>
          <p:cNvPr id="91" name="Oval 90"/>
          <p:cNvSpPr/>
          <p:nvPr/>
        </p:nvSpPr>
        <p:spPr>
          <a:xfrm>
            <a:off x="3420770" y="6268212"/>
            <a:ext cx="210312" cy="210312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649370" y="623163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チームI</a:t>
            </a:r>
          </a:p>
        </p:txBody>
      </p:sp>
      <p:sp>
        <p:nvSpPr>
          <p:cNvPr id="93" name="Oval 92"/>
          <p:cNvSpPr/>
          <p:nvPr/>
        </p:nvSpPr>
        <p:spPr>
          <a:xfrm>
            <a:off x="3178454" y="6338620"/>
            <a:ext cx="219456" cy="219456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416198" y="6302044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チームJ</a:t>
            </a:r>
          </a:p>
        </p:txBody>
      </p:sp>
      <p:sp>
        <p:nvSpPr>
          <p:cNvPr id="95" name="Oval 94"/>
          <p:cNvSpPr/>
          <p:nvPr/>
        </p:nvSpPr>
        <p:spPr>
          <a:xfrm>
            <a:off x="2884017" y="6348222"/>
            <a:ext cx="237744" cy="237744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140049" y="631164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チームK</a:t>
            </a:r>
          </a:p>
        </p:txBody>
      </p:sp>
      <p:sp>
        <p:nvSpPr>
          <p:cNvPr id="97" name="Oval 96"/>
          <p:cNvSpPr/>
          <p:nvPr/>
        </p:nvSpPr>
        <p:spPr>
          <a:xfrm>
            <a:off x="2637129" y="6470294"/>
            <a:ext cx="256032" cy="256032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911449" y="6433718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チームL</a:t>
            </a:r>
          </a:p>
        </p:txBody>
      </p:sp>
      <p:sp>
        <p:nvSpPr>
          <p:cNvPr id="99" name="Oval 98"/>
          <p:cNvSpPr/>
          <p:nvPr/>
        </p:nvSpPr>
        <p:spPr>
          <a:xfrm>
            <a:off x="2385669" y="6362852"/>
            <a:ext cx="283464" cy="283464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687421" y="632627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チームM</a:t>
            </a:r>
          </a:p>
        </p:txBody>
      </p:sp>
      <p:sp>
        <p:nvSpPr>
          <p:cNvPr id="101" name="Oval 100"/>
          <p:cNvSpPr/>
          <p:nvPr/>
        </p:nvSpPr>
        <p:spPr>
          <a:xfrm>
            <a:off x="1919325" y="6634429"/>
            <a:ext cx="265176" cy="265176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202789" y="6597853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チームN</a:t>
            </a:r>
          </a:p>
        </p:txBody>
      </p:sp>
      <p:sp>
        <p:nvSpPr>
          <p:cNvPr id="103" name="Oval 102"/>
          <p:cNvSpPr/>
          <p:nvPr/>
        </p:nvSpPr>
        <p:spPr>
          <a:xfrm>
            <a:off x="4860950" y="5625846"/>
            <a:ext cx="182880" cy="182880"/>
          </a:xfrm>
          <a:prstGeom prst="ellipse">
            <a:avLst/>
          </a:prstGeom>
          <a:solidFill>
            <a:srgbClr val="F4B942"/>
          </a:solidFill>
          <a:ln>
            <a:solidFill>
              <a:srgbClr val="C88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62118" y="5589270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C88E1F"/>
                </a:solidFill>
                <a:latin typeface="Segoe UI"/>
                <a:ea typeface="メイリオ"/>
              </a:rPr>
              <a:t>当チーム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035040" y="571500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88E1F"/>
                </a:solidFill>
                <a:latin typeface="Segoe UI"/>
                <a:ea typeface="メイリオ"/>
              </a:rPr>
              <a:t>● 当チーム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035040" y="5952744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Segoe UI"/>
                <a:ea typeface="メイリオ"/>
              </a:rPr>
              <a:t>● 他チーム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035040" y="6400800"/>
            <a:ext cx="1188720" cy="1097280"/>
          </a:xfrm>
          <a:prstGeom prst="rect">
            <a:avLst/>
          </a:prstGeom>
          <a:solidFill>
            <a:srgbClr val="E8EFE3"/>
          </a:solidFill>
          <a:ln w="9525">
            <a:solidFill>
              <a:srgbClr val="F4B9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089904" y="642823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88E1F"/>
                </a:solidFill>
                <a:latin typeface="Segoe UI"/>
                <a:ea typeface="メイリオ"/>
              </a:rPr>
              <a:t>示唆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089904" y="6620256"/>
            <a:ext cx="109728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当チームは右上に位置し
高利用×高効率を実現。
横展開支援で
左下チームの底上げ
余地あり。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65760" y="7607808"/>
            <a:ext cx="6858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※ チーム名は匿名化表記 (V7も同様にチーム名は非公開)。バブル位置はV7と一致する相対値。具体数値はダッシュボード参照。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74320" y="7818120"/>
            <a:ext cx="701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Segoe UI"/>
                <a:ea typeface="メイリオ"/>
              </a:rPr>
              <a:t>メンバー別 TOP3 — 当チーム内 (V7記載の3名を3視点で再ランキング)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74320" y="8028431"/>
            <a:ext cx="2276856" cy="978408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274320" y="8028431"/>
            <a:ext cx="227685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47472" y="8083296"/>
            <a:ext cx="21305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コストTOP3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47472" y="8247888"/>
            <a:ext cx="21305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最も使った人 (千円)</a:t>
            </a:r>
          </a:p>
        </p:txBody>
      </p:sp>
      <p:sp>
        <p:nvSpPr>
          <p:cNvPr id="116" name="Oval 115"/>
          <p:cNvSpPr/>
          <p:nvPr/>
        </p:nvSpPr>
        <p:spPr>
          <a:xfrm>
            <a:off x="347472" y="8412480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47472" y="8412480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48640" y="8403336"/>
            <a:ext cx="7772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ユーザーA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88720" y="8403336"/>
            <a:ext cx="131673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C88E1F"/>
                </a:solidFill>
                <a:latin typeface="Segoe UI"/>
                <a:ea typeface="メイリオ"/>
              </a:rPr>
              <a:t>¥130k</a:t>
            </a:r>
          </a:p>
        </p:txBody>
      </p:sp>
      <p:sp>
        <p:nvSpPr>
          <p:cNvPr id="120" name="Oval 119"/>
          <p:cNvSpPr/>
          <p:nvPr/>
        </p:nvSpPr>
        <p:spPr>
          <a:xfrm>
            <a:off x="347472" y="8613648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47472" y="8613648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48640" y="8604504"/>
            <a:ext cx="7772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ユーザーB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188720" y="8604504"/>
            <a:ext cx="131673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C88E1F"/>
                </a:solidFill>
                <a:latin typeface="Segoe UI"/>
                <a:ea typeface="メイリオ"/>
              </a:rPr>
              <a:t>¥108k</a:t>
            </a:r>
          </a:p>
        </p:txBody>
      </p:sp>
      <p:sp>
        <p:nvSpPr>
          <p:cNvPr id="124" name="Oval 123"/>
          <p:cNvSpPr/>
          <p:nvPr/>
        </p:nvSpPr>
        <p:spPr>
          <a:xfrm>
            <a:off x="347472" y="8814815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47472" y="8814815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48640" y="8805672"/>
            <a:ext cx="7772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ユーザーC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188720" y="8805672"/>
            <a:ext cx="131673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C88E1F"/>
                </a:solidFill>
                <a:latin typeface="Segoe UI"/>
                <a:ea typeface="メイリオ"/>
              </a:rPr>
              <a:t>¥92k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47472" y="8842248"/>
            <a:ext cx="21305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4,200行 / 32.3行/¥1k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642616" y="8028431"/>
            <a:ext cx="2276856" cy="978408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2642616" y="8028431"/>
            <a:ext cx="227685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2715768" y="8083296"/>
            <a:ext cx="21305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生成行TOP3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715768" y="8247888"/>
            <a:ext cx="21305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最もコード生成 (行)</a:t>
            </a:r>
          </a:p>
        </p:txBody>
      </p:sp>
      <p:sp>
        <p:nvSpPr>
          <p:cNvPr id="133" name="Oval 132"/>
          <p:cNvSpPr/>
          <p:nvPr/>
        </p:nvSpPr>
        <p:spPr>
          <a:xfrm>
            <a:off x="2715768" y="8412480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715768" y="8412480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916936" y="8403336"/>
            <a:ext cx="7772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ユーザーB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557016" y="8403336"/>
            <a:ext cx="131673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C88E1F"/>
                </a:solidFill>
                <a:latin typeface="Segoe UI"/>
                <a:ea typeface="メイリオ"/>
              </a:rPr>
              <a:t>4,500行</a:t>
            </a:r>
          </a:p>
        </p:txBody>
      </p:sp>
      <p:sp>
        <p:nvSpPr>
          <p:cNvPr id="137" name="Oval 136"/>
          <p:cNvSpPr/>
          <p:nvPr/>
        </p:nvSpPr>
        <p:spPr>
          <a:xfrm>
            <a:off x="2715768" y="8613648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715768" y="8613648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916936" y="8604504"/>
            <a:ext cx="7772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ユーザーA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557016" y="8604504"/>
            <a:ext cx="131673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C88E1F"/>
                </a:solidFill>
                <a:latin typeface="Segoe UI"/>
                <a:ea typeface="メイリオ"/>
              </a:rPr>
              <a:t>4,200行</a:t>
            </a:r>
          </a:p>
        </p:txBody>
      </p:sp>
      <p:sp>
        <p:nvSpPr>
          <p:cNvPr id="141" name="Oval 140"/>
          <p:cNvSpPr/>
          <p:nvPr/>
        </p:nvSpPr>
        <p:spPr>
          <a:xfrm>
            <a:off x="2715768" y="8814815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2715768" y="8814815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916936" y="8805672"/>
            <a:ext cx="7772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ユーザーC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557016" y="8805672"/>
            <a:ext cx="131673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C88E1F"/>
                </a:solidFill>
                <a:latin typeface="Segoe UI"/>
                <a:ea typeface="メイリオ"/>
              </a:rPr>
              <a:t>2,800行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715768" y="8842248"/>
            <a:ext cx="21305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¥108k / 41.7行/¥1k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010912" y="8028431"/>
            <a:ext cx="2276856" cy="978408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010912" y="8028431"/>
            <a:ext cx="227685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084064" y="8083296"/>
            <a:ext cx="21305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効率TOP3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084064" y="8247888"/>
            <a:ext cx="21305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コスパ (行/¥1k)</a:t>
            </a:r>
          </a:p>
        </p:txBody>
      </p:sp>
      <p:sp>
        <p:nvSpPr>
          <p:cNvPr id="150" name="Oval 149"/>
          <p:cNvSpPr/>
          <p:nvPr/>
        </p:nvSpPr>
        <p:spPr>
          <a:xfrm>
            <a:off x="5084064" y="8412480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5084064" y="8412480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285232" y="8403336"/>
            <a:ext cx="7772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ユーザーB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925312" y="8403336"/>
            <a:ext cx="131673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C88E1F"/>
                </a:solidFill>
                <a:latin typeface="Segoe UI"/>
                <a:ea typeface="メイリオ"/>
              </a:rPr>
              <a:t>41.7</a:t>
            </a:r>
          </a:p>
        </p:txBody>
      </p:sp>
      <p:sp>
        <p:nvSpPr>
          <p:cNvPr id="154" name="Oval 153"/>
          <p:cNvSpPr/>
          <p:nvPr/>
        </p:nvSpPr>
        <p:spPr>
          <a:xfrm>
            <a:off x="5084064" y="8613648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5084064" y="8613648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285232" y="8604504"/>
            <a:ext cx="7772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ユーザーA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925312" y="8604504"/>
            <a:ext cx="131673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C88E1F"/>
                </a:solidFill>
                <a:latin typeface="Segoe UI"/>
                <a:ea typeface="メイリオ"/>
              </a:rPr>
              <a:t>32.3</a:t>
            </a:r>
          </a:p>
        </p:txBody>
      </p:sp>
      <p:sp>
        <p:nvSpPr>
          <p:cNvPr id="158" name="Oval 157"/>
          <p:cNvSpPr/>
          <p:nvPr/>
        </p:nvSpPr>
        <p:spPr>
          <a:xfrm>
            <a:off x="5084064" y="8814815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5084064" y="8814815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285232" y="8805672"/>
            <a:ext cx="7772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ユーザーC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925312" y="8805672"/>
            <a:ext cx="131673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C88E1F"/>
                </a:solidFill>
                <a:latin typeface="Segoe UI"/>
                <a:ea typeface="メイリオ"/>
              </a:rPr>
              <a:t>30.4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5084064" y="8842248"/>
            <a:ext cx="21305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¥108k → 4,500行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274320" y="9098280"/>
            <a:ext cx="3337560" cy="123444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365760" y="9153144"/>
            <a:ext cx="31546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5C9A8"/>
                </a:solidFill>
                <a:latin typeface="Segoe UI"/>
                <a:ea typeface="メイリオ"/>
              </a:rPr>
              <a:t>当チーム実績 (3月)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65760" y="9317736"/>
            <a:ext cx="31546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4B942"/>
                </a:solidFill>
                <a:latin typeface="Segoe UI"/>
                <a:ea typeface="メイリオ"/>
              </a:rPr>
              <a:t>¥822k → 26,000行</a:t>
            </a:r>
          </a:p>
        </p:txBody>
      </p:sp>
      <p:cxnSp>
        <p:nvCxnSpPr>
          <p:cNvPr id="166" name="Connector 165"/>
          <p:cNvCxnSpPr/>
          <p:nvPr/>
        </p:nvCxnSpPr>
        <p:spPr>
          <a:xfrm>
            <a:off x="365760" y="9601200"/>
            <a:ext cx="3154679" cy="0"/>
          </a:xfrm>
          <a:prstGeom prst="line">
            <a:avLst/>
          </a:prstGeom>
          <a:ln w="635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TextBox 166"/>
          <p:cNvSpPr txBox="1"/>
          <p:nvPr/>
        </p:nvSpPr>
        <p:spPr>
          <a:xfrm>
            <a:off x="365760" y="9628632"/>
            <a:ext cx="31546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  <a:ea typeface="メイリオ"/>
              </a:rPr>
              <a:t>¥1.5M投資換算 (人月単価相当)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65760" y="9811511"/>
            <a:ext cx="31546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4B942"/>
                </a:solidFill>
                <a:latin typeface="Segoe UI"/>
                <a:ea typeface="メイリオ"/>
              </a:rPr>
              <a:t>約 47,400 行 / 人月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365760" y="10104119"/>
            <a:ext cx="31546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B5C9A8"/>
                </a:solidFill>
                <a:latin typeface="Segoe UI"/>
                <a:ea typeface="メイリオ"/>
              </a:rPr>
              <a:t>業界中央値 600行/人月の約79倍 (※単純比較)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3749039" y="9098280"/>
            <a:ext cx="353872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3840479" y="9153144"/>
            <a:ext cx="33558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【参考】 公開研究の月間コード生産量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3840479" y="9317736"/>
            <a:ext cx="33558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※ 品質・複雑度・業務特性は考慮されない単純比較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3840479" y="9491472"/>
            <a:ext cx="3355848" cy="246888"/>
          </a:xfrm>
          <a:prstGeom prst="rect">
            <a:avLst/>
          </a:prstGeom>
          <a:solidFill>
            <a:srgbClr val="E8EFE3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3840479" y="9491472"/>
            <a:ext cx="45720" cy="246888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3931920" y="9528047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保守的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4617720" y="9528047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325 〜 750 行/月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6035040" y="9528047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Capers Jones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3840479" y="9765792"/>
            <a:ext cx="3355848" cy="246888"/>
          </a:xfrm>
          <a:prstGeom prst="rect">
            <a:avLst/>
          </a:prstGeom>
          <a:solidFill>
            <a:srgbClr val="E8EFE3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3840479" y="9765792"/>
            <a:ext cx="45720" cy="246888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3931920" y="9802367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中央値的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617720" y="9802367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約 1,000 行/月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6035040" y="9802367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日本SI業界 (IPA)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3840479" y="10040111"/>
            <a:ext cx="3355848" cy="246888"/>
          </a:xfrm>
          <a:prstGeom prst="rect">
            <a:avLst/>
          </a:prstGeom>
          <a:solidFill>
            <a:srgbClr val="E8EFE3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3840479" y="10040111"/>
            <a:ext cx="45720" cy="246888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3931920" y="10076687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生産性高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4617720" y="10076687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1,500 〜 1,600 行/月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6035040" y="10076687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個人実測 / Scrum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0" y="10332720"/>
            <a:ext cx="7562088" cy="35661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0" y="10332720"/>
            <a:ext cx="54864" cy="356616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182880" y="10369296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Segoe UI"/>
                <a:ea typeface="メイリオ"/>
              </a:rPr>
              <a:t>効率は改善継続、年度末予測 ¥9.9M=ミドル6.6人月相当。次手は『増員 vs Claude活用拡大』の経営判断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