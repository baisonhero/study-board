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3657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月次利用量レポート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21945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4688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56692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2026年度Q1 累積  /  報告日: 2026-07-01  /  対象期間: 2026/04/01 - 06/30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777240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過去3ヶ月でコスト 1.19倍 vs 採用行数 1.33倍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来期の投資規模: 外注費用 5.4人月相当 (累積+残月計画ベース)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005840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前月までの累積コスト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1161288"/>
            <a:ext cx="1266443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B5C9A8"/>
                </a:solidFill>
                <a:latin typeface="Segoe UI"/>
                <a:ea typeface="メイリオ"/>
              </a:rPr>
              <a:t>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335024"/>
            <a:ext cx="1357884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4B942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792224"/>
            <a:ext cx="1357884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5603" y="987552"/>
            <a:ext cx="12664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年度末着地予測 (予測)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3" y="1152144"/>
            <a:ext cx="13578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F3A2E"/>
                </a:solidFill>
                <a:latin typeface="Segoe UI"/>
                <a:ea typeface="メイリオ"/>
              </a:rPr>
              <a:t>8,640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481328"/>
            <a:ext cx="135788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75603" y="1627632"/>
            <a:ext cx="1266443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外注費用 5.4人月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5603" y="1801368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1F3A2E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2258568"/>
            <a:ext cx="3813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7月以降は計画値 (月 750 [千円])  /  単月行数は実績のみ表示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026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31847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343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7月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9501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8月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659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9月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58183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10月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9768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11月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135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12月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293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451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2月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610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3月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7688" y="4041648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年間合計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026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31847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1343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501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59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58183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39768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135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0293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451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610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47688" y="4187952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9,000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313432" y="4041648"/>
            <a:ext cx="0" cy="438912"/>
          </a:xfrm>
          <a:prstGeom prst="line">
            <a:avLst/>
          </a:prstGeom>
          <a:ln w="1143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8680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5026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31847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1343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9501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7659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58183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39768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2135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0293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8451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610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47688" y="4334256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1,890*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4498848"/>
            <a:ext cx="70134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* 6月末までの累積実績  /  黄色縦線 = 実績→予測の境界  /  実績 &lt; 計画 = 緑、実績 &gt; 計画 = 橙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6月の実績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6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+11.3%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66543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66543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39696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アクティブユーザー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9696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12名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9696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9696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10名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58768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58768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1920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57.5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0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−4.5%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31920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62.0 [千円]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50992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50992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724144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1人あたり採用行数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24144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1,667行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24144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+5%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24144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1,587行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20040" y="81153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↑ 効率
(行/コスト)</a:t>
            </a:r>
          </a:p>
        </p:txBody>
      </p:sp>
      <p:sp>
        <p:nvSpPr>
          <p:cNvPr id="180" name="Oval 179"/>
          <p:cNvSpPr/>
          <p:nvPr/>
        </p:nvSpPr>
        <p:spPr>
          <a:xfrm>
            <a:off x="4974336" y="7931505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140756" y="8049463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697272" y="8034375"/>
            <a:ext cx="115214" cy="11521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522622" y="8013801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245559" y="8116671"/>
            <a:ext cx="104241" cy="104241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162348" y="8192109"/>
            <a:ext cx="87782" cy="8778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699662" y="8205825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457346" y="8230514"/>
            <a:ext cx="126187" cy="1261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226003" y="8266176"/>
            <a:ext cx="131673" cy="131673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946196" y="8270290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12110" y="8332012"/>
            <a:ext cx="153619" cy="153619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475280" y="8275777"/>
            <a:ext cx="170078" cy="17007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023567" y="8415680"/>
            <a:ext cx="159105" cy="15910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837176" y="7902702"/>
            <a:ext cx="109728" cy="109728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965192" y="787527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低使用 × 高効率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高使用 × 高効率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▲ 低使用 × 低効率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高使用 × 低効率 ▲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1人あたりコスト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5C9A8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01784"/>
            <a:ext cx="325526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996696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9985248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約 1,260 [千円] 投資換算 (人月単純相当)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149840"/>
            <a:ext cx="325526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約 36,400 行 / 人/月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10424160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業界中央値 600 行/人/月 の 約61倍 (※単純比較)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941063" y="9555480"/>
            <a:ext cx="3255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公開研究の月間コード生産量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941063" y="9710928"/>
            <a:ext cx="32552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品質・複雑度・業務特性は考慮されない単純比較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941063" y="98572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941063" y="98572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032504" y="98846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保守的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672584" y="98846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325 〜 750 行/月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208776" y="98846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Capers Jones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941063" y="100858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941063" y="100858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032504" y="101132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中央値的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672584" y="101132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208776" y="101132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日本SI業界 (IPA)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941063" y="103144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941063" y="103144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032504" y="103418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生産性高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672584" y="103418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1,500 〜 1,600 行/月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208776" y="103418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個人実測 / Scrum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4,500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  <p:pic>
        <p:nvPicPr>
          <p:cNvPr id="297" name="Picture 296" descr="v11r10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298" name="TextBox 297"/>
          <p:cNvSpPr txBox="1"/>
          <p:nvPr/>
        </p:nvSpPr>
        <p:spPr>
          <a:xfrm>
            <a:off x="274320" y="7360920"/>
            <a:ext cx="70134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 — 当チームは右上の優良ゾーン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