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 — based on V8 rev3.</a:t>
            </a:r>
          </a:p>
          <a:p>
            <a:r>
              <a:t>V9 changes (per user 2026-05-09 feedback):</a:t>
            </a:r>
          </a:p>
          <a:p>
            <a:r>
              <a:t>  - UNIT: all currency normalized to [千円]. k/M notation removed.</a:t>
            </a:r>
          </a:p>
          <a:p>
            <a:r>
              <a:t>      ¥9.9M→9,900; ¥822k→822; ¥1.5M→1,500; ¥68.5k→68.5; etc.</a:t>
            </a:r>
          </a:p>
          <a:p>
            <a:r>
              <a:t>      効率TOP3 unit: 行/¥1k → 行/千円.</a:t>
            </a:r>
          </a:p>
          <a:p>
            <a:r>
              <a:t>  - LAYOUT (monthly trend band): 100% width chart → split into LEFT 58%</a:t>
            </a:r>
          </a:p>
          <a:p>
            <a:r>
              <a:t>      dual-axis trend chart + RIGHT 42% '自プロジェクトメンバー コストTOP5'</a:t>
            </a:r>
          </a:p>
          <a:p>
            <a:r>
              <a:t>      panel (NEW). Member-row TOP3 reduced 3→2 (生成行/効率 only; コスト</a:t>
            </a:r>
          </a:p>
          <a:p>
            <a:r>
              <a:t>      panel removed because TOP5 cost is now shown above).</a:t>
            </a:r>
          </a:p>
          <a:p>
            <a:r>
              <a:t>  - VERSION: V8 → V9; date 2026-05-08 → 2026-05-09.</a:t>
            </a:r>
          </a:p>
          <a:p/>
          <a:p>
            <a:r>
              <a:t>Mock-data disclosure (CRITICAL):</a:t>
            </a:r>
          </a:p>
          <a:p>
            <a:r>
              <a:t>  - TOP1-3 cost values (130/108/92 [千円]) preserved 1:1 from V7.</a:t>
            </a:r>
          </a:p>
          <a:p>
            <a:r>
              <a:t>  - V7 codenames remapped to real names per user instruction:</a:t>
            </a:r>
          </a:p>
          <a:p>
            <a:r>
              <a:t>      ユーザーA → 山田 太郎 (130, 4,200行, 32.3行/千円)</a:t>
            </a:r>
          </a:p>
          <a:p>
            <a:r>
              <a:t>      ユーザーB → 鈴木 花子 (108, 4,500行, 41.7行/千円)</a:t>
            </a:r>
          </a:p>
          <a:p>
            <a:r>
              <a:t>      ユーザーC → 佐藤 健    ( 92, 2,800行, 30.4行/千円)</a:t>
            </a:r>
          </a:p>
          <a:p>
            <a:r>
              <a:t>  - TOP4 (田中 美咲 78 [千円]) and TOP5 (高橋 翔 64 [千円]) are MOCK values</a:t>
            </a:r>
          </a:p>
          <a:p>
            <a:r>
              <a:t>    supplied by the user for layout-confirmation only. Disclosed on-slide</a:t>
            </a:r>
          </a:p>
          <a:p>
            <a:r>
              <a:t>    via footnote in the TOP5 panel.</a:t>
            </a:r>
          </a:p>
          <a:p/>
          <a:p>
            <a:r>
              <a:t>Data preserved 1:1 from V8 rev3: 月次推移6点, KPI 4枚, 9,900予測,</a:t>
            </a:r>
          </a:p>
          <a:p>
            <a:r>
              <a:t>  822→26,000行, 公開研究3水準, 14チーム配置 (2色, 4象限).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4572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月次利用量レポート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219456"/>
            <a:ext cx="932688" cy="310896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46888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4B942"/>
                </a:solidFill>
                <a:latin typeface="Segoe UI"/>
                <a:ea typeface="メイリオ"/>
              </a:rPr>
              <a:t>V9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9436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2026年3月度  /  報告者: Ogata  /  報告日: 2026-05-09  /  対象期間: 2026/03/01 - 03/31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841248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9144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今月のジャッジ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数字から見えること — チームでの議論材料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98448"/>
            <a:ext cx="4297680" cy="393192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98448"/>
            <a:ext cx="45720" cy="393192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3533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32588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効率性は改善傾向 (継続観測中)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499616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824"/>
                </a:solidFill>
                <a:latin typeface="Segoe UI"/>
                <a:ea typeface="メイリオ"/>
              </a:rPr>
              <a:t>過去6ヶ月でコスト2.3倍に対し採用行数3.7倍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28216"/>
            <a:ext cx="4297680" cy="393192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728216"/>
            <a:ext cx="45720" cy="393192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17830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175564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来期の投資規模: ミドル6.6人月相当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929384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824"/>
                </a:solidFill>
                <a:latin typeface="Segoe UI"/>
                <a:ea typeface="メイリオ"/>
              </a:rPr>
              <a:t>ミドル増員 vs Claude活用拡大、議論事項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57984"/>
            <a:ext cx="4297680" cy="393192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157984"/>
            <a:ext cx="45720" cy="3931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212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18541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359152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298448"/>
            <a:ext cx="2624328" cy="13258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353312"/>
            <a:ext cx="2441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5C9A8"/>
                </a:solidFill>
                <a:latin typeface="Segoe UI"/>
                <a:ea typeface="メイリオ"/>
              </a:rPr>
              <a:t>年度末着地予測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517904"/>
            <a:ext cx="2715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4B942"/>
                </a:solidFill>
                <a:latin typeface="Segoe UI"/>
                <a:ea typeface="メイリオ"/>
              </a:rPr>
              <a:t>9,900 [千円]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37760" y="2075688"/>
            <a:ext cx="2075688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63440" y="2103120"/>
            <a:ext cx="2624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メイリオ"/>
              </a:rPr>
              <a:t>≈ ミドル人材 6.6人月分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295144"/>
            <a:ext cx="2624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1,500 [千円]/月換算 / 現行ペース×12ヶ月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459736"/>
            <a:ext cx="2624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4B942"/>
                </a:solidFill>
                <a:latin typeface="Segoe UI"/>
                <a:ea typeface="メイリオ"/>
              </a:rPr>
              <a:t>投資判断: 人を雇うか / Claude活用拡大か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総コスト [千円]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822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+19.0%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前月 691 [千円]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66543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66543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9696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アクティブユーザー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9696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9696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9696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前月 10名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58768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58768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1人あたり月額 [千円]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68.5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−1.2%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前月 69.1 [千円]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50992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50992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24144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1人あたり採用行数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24144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2,180行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24144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+18%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24144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全社平均 1,520行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358444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月次推移 — コスト × 採用コード行数 (過去6ヶ月)</a:t>
            </a:r>
          </a:p>
        </p:txBody>
      </p:sp>
      <p:pic>
        <p:nvPicPr>
          <p:cNvPr id="57" name="Picture 56" descr="v9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13048"/>
            <a:ext cx="4023360" cy="107899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4901184"/>
            <a:ext cx="4023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コスト 2.3倍 vs 採用行数 3.7倍 = 効率改善継続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3584448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プロジェクトメンバー コストTOP5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4848" y="36027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3813048"/>
            <a:ext cx="289864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89120" y="3813048"/>
            <a:ext cx="2898648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462272" y="3922776"/>
            <a:ext cx="146304" cy="146304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62272" y="3922776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5152" y="391363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0" y="3959352"/>
            <a:ext cx="1280159" cy="73151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03136" y="391363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68" name="Oval 67"/>
          <p:cNvSpPr/>
          <p:nvPr/>
        </p:nvSpPr>
        <p:spPr>
          <a:xfrm>
            <a:off x="4462272" y="4087368"/>
            <a:ext cx="146304" cy="146304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62272" y="4087368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5152" y="407822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4123944"/>
            <a:ext cx="1063517" cy="73151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03136" y="407822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73" name="Oval 72"/>
          <p:cNvSpPr/>
          <p:nvPr/>
        </p:nvSpPr>
        <p:spPr>
          <a:xfrm>
            <a:off x="4462272" y="4251960"/>
            <a:ext cx="146304" cy="146304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62272" y="4251960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5152" y="4242816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0" y="4288536"/>
            <a:ext cx="905959" cy="73151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03136" y="424281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78" name="Oval 77"/>
          <p:cNvSpPr/>
          <p:nvPr/>
        </p:nvSpPr>
        <p:spPr>
          <a:xfrm>
            <a:off x="4462272" y="4416552"/>
            <a:ext cx="146304" cy="146304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62272" y="4416552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45152" y="4407408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0" y="4453128"/>
            <a:ext cx="768095" cy="73151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03136" y="440740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83" name="Oval 82"/>
          <p:cNvSpPr/>
          <p:nvPr/>
        </p:nvSpPr>
        <p:spPr>
          <a:xfrm>
            <a:off x="4462272" y="4581144"/>
            <a:ext cx="146304" cy="146304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62272" y="4581144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45152" y="457200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0" y="4617720"/>
            <a:ext cx="630232" cy="73151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03136" y="45720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9120" y="4901184"/>
            <a:ext cx="28986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※メンバー名・金額はレイアウト確認用のモックデータ／TOP6以降は別紙Excel参照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66360"/>
            <a:ext cx="701344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521208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 — 当チームは右上の理想ゾーン、下位3チームに導入支援余地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5413248"/>
            <a:ext cx="6858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X軸: Claude利用量 (相対) →   /   Y軸: 効率 [採用行数 ÷ コスト] ↑   /   バブル径: 1人あたりコスト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05840" y="7498079"/>
            <a:ext cx="475488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05840" y="5623560"/>
            <a:ext cx="0" cy="1874519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383280" y="5623560"/>
            <a:ext cx="0" cy="1874519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05840" y="6560820"/>
            <a:ext cx="475488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389120" y="754380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→ Claude利用量 (大)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0120" y="754380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(小)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60" y="619506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↑ 効率
(行/コスト)
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21024" y="5698540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活用優等生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21024" y="5844844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高利用 × 高効率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96035" y="5698540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効率派・規模小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96035" y="5844844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低利用 × 高効率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6035" y="7085685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要支援 (未活用)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96035" y="7231989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低利用 × 低効率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21024" y="7085685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コスト先行・低効率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21024" y="7231989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高利用 × 低効率</a:t>
            </a:r>
          </a:p>
        </p:txBody>
      </p:sp>
      <p:sp>
        <p:nvSpPr>
          <p:cNvPr id="107" name="Oval 106"/>
          <p:cNvSpPr/>
          <p:nvPr/>
        </p:nvSpPr>
        <p:spPr>
          <a:xfrm>
            <a:off x="5003596" y="5682081"/>
            <a:ext cx="182880" cy="18288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204764" y="564550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チームB</a:t>
            </a:r>
          </a:p>
        </p:txBody>
      </p:sp>
      <p:sp>
        <p:nvSpPr>
          <p:cNvPr id="109" name="Oval 108"/>
          <p:cNvSpPr/>
          <p:nvPr/>
        </p:nvSpPr>
        <p:spPr>
          <a:xfrm>
            <a:off x="5166360" y="5917082"/>
            <a:ext cx="237744" cy="23774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663440" y="588050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チームC</a:t>
            </a:r>
          </a:p>
        </p:txBody>
      </p:sp>
      <p:sp>
        <p:nvSpPr>
          <p:cNvPr id="111" name="Oval 110"/>
          <p:cNvSpPr/>
          <p:nvPr/>
        </p:nvSpPr>
        <p:spPr>
          <a:xfrm>
            <a:off x="4713731" y="5883706"/>
            <a:ext cx="192024" cy="19202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924043" y="584713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チームD</a:t>
            </a:r>
          </a:p>
        </p:txBody>
      </p:sp>
      <p:sp>
        <p:nvSpPr>
          <p:cNvPr id="113" name="Oval 112"/>
          <p:cNvSpPr/>
          <p:nvPr/>
        </p:nvSpPr>
        <p:spPr>
          <a:xfrm>
            <a:off x="4537252" y="5841187"/>
            <a:ext cx="164592" cy="16459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20132" y="580461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チームE</a:t>
            </a:r>
          </a:p>
        </p:txBody>
      </p:sp>
      <p:sp>
        <p:nvSpPr>
          <p:cNvPr id="115" name="Oval 114"/>
          <p:cNvSpPr/>
          <p:nvPr/>
        </p:nvSpPr>
        <p:spPr>
          <a:xfrm>
            <a:off x="4247388" y="6042812"/>
            <a:ext cx="173736" cy="17373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439412" y="600623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チームF</a:t>
            </a:r>
          </a:p>
        </p:txBody>
      </p:sp>
      <p:sp>
        <p:nvSpPr>
          <p:cNvPr id="117" name="Oval 116"/>
          <p:cNvSpPr/>
          <p:nvPr/>
        </p:nvSpPr>
        <p:spPr>
          <a:xfrm>
            <a:off x="4166006" y="6187744"/>
            <a:ext cx="146304" cy="14630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330598" y="615116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チームG</a:t>
            </a:r>
          </a:p>
        </p:txBody>
      </p:sp>
      <p:sp>
        <p:nvSpPr>
          <p:cNvPr id="119" name="Oval 118"/>
          <p:cNvSpPr/>
          <p:nvPr/>
        </p:nvSpPr>
        <p:spPr>
          <a:xfrm>
            <a:off x="3681374" y="6216091"/>
            <a:ext cx="164592" cy="16459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864254" y="617951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チームH</a:t>
            </a:r>
          </a:p>
        </p:txBody>
      </p:sp>
      <p:sp>
        <p:nvSpPr>
          <p:cNvPr id="121" name="Oval 120"/>
          <p:cNvSpPr/>
          <p:nvPr/>
        </p:nvSpPr>
        <p:spPr>
          <a:xfrm>
            <a:off x="3420770" y="6268212"/>
            <a:ext cx="210312" cy="21031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649370" y="623163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チームI</a:t>
            </a:r>
          </a:p>
        </p:txBody>
      </p:sp>
      <p:sp>
        <p:nvSpPr>
          <p:cNvPr id="123" name="Oval 122"/>
          <p:cNvSpPr/>
          <p:nvPr/>
        </p:nvSpPr>
        <p:spPr>
          <a:xfrm>
            <a:off x="3178454" y="6338620"/>
            <a:ext cx="219456" cy="21945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416198" y="630204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チームJ</a:t>
            </a:r>
          </a:p>
        </p:txBody>
      </p:sp>
      <p:sp>
        <p:nvSpPr>
          <p:cNvPr id="125" name="Oval 124"/>
          <p:cNvSpPr/>
          <p:nvPr/>
        </p:nvSpPr>
        <p:spPr>
          <a:xfrm>
            <a:off x="2884017" y="6348222"/>
            <a:ext cx="237744" cy="23774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140049" y="631164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チームK</a:t>
            </a:r>
          </a:p>
        </p:txBody>
      </p:sp>
      <p:sp>
        <p:nvSpPr>
          <p:cNvPr id="127" name="Oval 126"/>
          <p:cNvSpPr/>
          <p:nvPr/>
        </p:nvSpPr>
        <p:spPr>
          <a:xfrm>
            <a:off x="2637129" y="6470294"/>
            <a:ext cx="256032" cy="25603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11449" y="643371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チームL</a:t>
            </a:r>
          </a:p>
        </p:txBody>
      </p:sp>
      <p:sp>
        <p:nvSpPr>
          <p:cNvPr id="129" name="Oval 128"/>
          <p:cNvSpPr/>
          <p:nvPr/>
        </p:nvSpPr>
        <p:spPr>
          <a:xfrm>
            <a:off x="2385669" y="6362852"/>
            <a:ext cx="283464" cy="28346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87421" y="632627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チームM</a:t>
            </a:r>
          </a:p>
        </p:txBody>
      </p:sp>
      <p:sp>
        <p:nvSpPr>
          <p:cNvPr id="131" name="Oval 130"/>
          <p:cNvSpPr/>
          <p:nvPr/>
        </p:nvSpPr>
        <p:spPr>
          <a:xfrm>
            <a:off x="1919325" y="6634429"/>
            <a:ext cx="265176" cy="26517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202789" y="659785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チームN</a:t>
            </a:r>
          </a:p>
        </p:txBody>
      </p:sp>
      <p:sp>
        <p:nvSpPr>
          <p:cNvPr id="133" name="Oval 132"/>
          <p:cNvSpPr/>
          <p:nvPr/>
        </p:nvSpPr>
        <p:spPr>
          <a:xfrm>
            <a:off x="4860950" y="5625846"/>
            <a:ext cx="182880" cy="182880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062118" y="558927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035040" y="57150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8E1F"/>
                </a:solidFill>
                <a:latin typeface="Segoe UI"/>
                <a:ea typeface="メイリオ"/>
              </a:rPr>
              <a:t>● 当チーム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035040" y="595274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Segoe UI"/>
                <a:ea typeface="メイリオ"/>
              </a:rPr>
              <a:t>● 他チーム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35040" y="6400800"/>
            <a:ext cx="1188720" cy="1097280"/>
          </a:xfrm>
          <a:prstGeom prst="rect">
            <a:avLst/>
          </a:prstGeom>
          <a:solidFill>
            <a:srgbClr val="E8EFE3"/>
          </a:solidFill>
          <a:ln w="9525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089904" y="64282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示唆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089904" y="6620256"/>
            <a:ext cx="109728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当チームは右上に位置し
高利用×高効率を実現。
横展開支援で
左下チームの底上げ
余地あり。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5760" y="7607808"/>
            <a:ext cx="6858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チーム名は匿名化表記 (V7も同様にチーム名は非公開)。バブル位置はV7と一致する相対値。具体数値はダッシュボード参照。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74320" y="7818120"/>
            <a:ext cx="701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メンバー別 TOP3 — 当チーム内 (V7記載の3名を2視点で再ランキング)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74320" y="8028431"/>
            <a:ext cx="3456432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74320" y="8028431"/>
            <a:ext cx="3456432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47472" y="8083296"/>
            <a:ext cx="33101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生成行TOP3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7472" y="8247888"/>
            <a:ext cx="33101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最もコード生成 (行)</a:t>
            </a:r>
          </a:p>
        </p:txBody>
      </p:sp>
      <p:sp>
        <p:nvSpPr>
          <p:cNvPr id="146" name="Oval 145"/>
          <p:cNvSpPr/>
          <p:nvPr/>
        </p:nvSpPr>
        <p:spPr>
          <a:xfrm>
            <a:off x="347472" y="841248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47472" y="84124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8403336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874519" y="8403336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4,500行</a:t>
            </a:r>
          </a:p>
        </p:txBody>
      </p:sp>
      <p:sp>
        <p:nvSpPr>
          <p:cNvPr id="150" name="Oval 149"/>
          <p:cNvSpPr/>
          <p:nvPr/>
        </p:nvSpPr>
        <p:spPr>
          <a:xfrm>
            <a:off x="347472" y="8613648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47472" y="8613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8640" y="86045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874519" y="8604504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4,200行</a:t>
            </a:r>
          </a:p>
        </p:txBody>
      </p:sp>
      <p:sp>
        <p:nvSpPr>
          <p:cNvPr id="154" name="Oval 153"/>
          <p:cNvSpPr/>
          <p:nvPr/>
        </p:nvSpPr>
        <p:spPr>
          <a:xfrm>
            <a:off x="347472" y="8814815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47472" y="8814815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48640" y="880567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874519" y="8805672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2,800行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47472" y="8842248"/>
            <a:ext cx="331012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108 [千円] / 41.7 行/千円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822191" y="8028431"/>
            <a:ext cx="3456432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822191" y="8028431"/>
            <a:ext cx="3456432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895344" y="8083296"/>
            <a:ext cx="33101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効率TOP3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895344" y="8247888"/>
            <a:ext cx="33101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コスパ (行/千円)</a:t>
            </a:r>
          </a:p>
        </p:txBody>
      </p:sp>
      <p:sp>
        <p:nvSpPr>
          <p:cNvPr id="163" name="Oval 162"/>
          <p:cNvSpPr/>
          <p:nvPr/>
        </p:nvSpPr>
        <p:spPr>
          <a:xfrm>
            <a:off x="3895344" y="841248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895344" y="84124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96511" y="8403336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22392" y="8403336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167" name="Oval 166"/>
          <p:cNvSpPr/>
          <p:nvPr/>
        </p:nvSpPr>
        <p:spPr>
          <a:xfrm>
            <a:off x="3895344" y="8613648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895344" y="8613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096511" y="86045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422392" y="8604504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171" name="Oval 170"/>
          <p:cNvSpPr/>
          <p:nvPr/>
        </p:nvSpPr>
        <p:spPr>
          <a:xfrm>
            <a:off x="3895344" y="8814815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895344" y="8814815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096511" y="880567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422392" y="8805672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95344" y="8842248"/>
            <a:ext cx="331012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108 [千円] → 4,500行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74320" y="9098280"/>
            <a:ext cx="3337560" cy="12344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65760" y="9153144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5C9A8"/>
                </a:solidFill>
                <a:latin typeface="Segoe UI"/>
                <a:ea typeface="メイリオ"/>
              </a:rPr>
              <a:t>当チーム実績 (3月)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65760" y="9317736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822 [千円] → 26,000行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365760" y="9601200"/>
            <a:ext cx="3154679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365760" y="9628632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  <a:ea typeface="メイリオ"/>
              </a:rPr>
              <a:t>1,500 [千円] 投資換算 (人月単価相当)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65760" y="9811511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B942"/>
                </a:solidFill>
                <a:latin typeface="Segoe UI"/>
                <a:ea typeface="メイリオ"/>
              </a:rPr>
              <a:t>約 47,400 行 / 人月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65760" y="10104119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600行/人月の約79倍 (※単純比較)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749039" y="9098280"/>
            <a:ext cx="35387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840479" y="9153144"/>
            <a:ext cx="3355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840479" y="9317736"/>
            <a:ext cx="3355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840479" y="9491472"/>
            <a:ext cx="3355848" cy="24688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840479" y="9491472"/>
            <a:ext cx="45720" cy="24688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931920" y="952804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617720" y="9528047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035040" y="9528047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840479" y="9765792"/>
            <a:ext cx="3355848" cy="24688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840479" y="9765792"/>
            <a:ext cx="45720" cy="24688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931920" y="980236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617720" y="9802367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035040" y="9802367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840479" y="10040111"/>
            <a:ext cx="3355848" cy="24688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3840479" y="10040111"/>
            <a:ext cx="45720" cy="24688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931920" y="1007668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617720" y="10076687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035040" y="10076687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0" y="10332720"/>
            <a:ext cx="7562088" cy="35661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0" y="10332720"/>
            <a:ext cx="54864" cy="356616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82880" y="1036929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  <a:ea typeface="メイリオ"/>
              </a:rPr>
              <a:t>効率は改善継続、年度末予測 9,900 [千円] = ミドル6.6人月相当。次手は『増員 vs Claude活用拡大』の経営判断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