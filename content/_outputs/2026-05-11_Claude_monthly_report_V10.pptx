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V10 — based on V9.</a:t>
            </a:r>
          </a:p>
          <a:p>
            <a:r>
              <a:t>V10 changes (per user 2026-05-11 feedback):</a:t>
            </a:r>
          </a:p>
          <a:p>
            <a:r>
              <a:t>  - TEAM MAP: per-bubble team-name labels removed. Only 当チーム is</a:t>
            </a:r>
          </a:p>
          <a:p>
            <a:r>
              <a:t>    captioned so its position remains identifiable. Legend reduced to</a:t>
            </a:r>
          </a:p>
          <a:p>
            <a:r>
              <a:t>    a single '当チーム' item (他チーム line removed). Quadrant captions,</a:t>
            </a:r>
          </a:p>
          <a:p>
            <a:r>
              <a:t>    axes, 示唆 callout, and 2-color (Amber/Sage) split preserved.</a:t>
            </a:r>
          </a:p>
          <a:p>
            <a:r>
              <a:t>  - WORDING: every 'ミドル' replaced with context-appropriate '外注':</a:t>
            </a:r>
          </a:p>
          <a:p>
            <a:r>
              <a:t>      'ミドル6.6人月'   → '外注費用 6.6人月'</a:t>
            </a:r>
          </a:p>
          <a:p>
            <a:r>
              <a:t>      'ミドル人材'      → '外注費用'</a:t>
            </a:r>
          </a:p>
          <a:p>
            <a:r>
              <a:t>      'ミドル増員'      → '外注増員'</a:t>
            </a:r>
          </a:p>
          <a:p>
            <a:r>
              <a:t>  - Version V9 → V10, date 2026-05-09 → 2026-05-11.</a:t>
            </a:r>
          </a:p>
          <a:p/>
          <a:p>
            <a:r>
              <a:t>--- prior V9 notes follow ---</a:t>
            </a:r>
          </a:p>
          <a:p>
            <a:r>
              <a:t>V9 — based on V8 rev3.</a:t>
            </a:r>
          </a:p>
          <a:p>
            <a:r>
              <a:t>V9 changes (per user 2026-05-09 feedback):</a:t>
            </a:r>
          </a:p>
          <a:p>
            <a:r>
              <a:t>  - UNIT: all currency normalized to [千円]. k/M notation removed.</a:t>
            </a:r>
          </a:p>
          <a:p>
            <a:r>
              <a:t>      ¥9.9M→9,900; ¥822k→822; ¥1.5M→1,500; ¥68.5k→68.5; etc.</a:t>
            </a:r>
          </a:p>
          <a:p>
            <a:r>
              <a:t>      効率TOP3 unit: 行/¥1k → 行/千円.</a:t>
            </a:r>
          </a:p>
          <a:p>
            <a:r>
              <a:t>  - LAYOUT (monthly trend band): 100% width chart → split into LEFT 58%</a:t>
            </a:r>
          </a:p>
          <a:p>
            <a:r>
              <a:t>      dual-axis trend chart + RIGHT 42% '自プロジェクトメンバー コストTOP5'</a:t>
            </a:r>
          </a:p>
          <a:p>
            <a:r>
              <a:t>      panel (NEW). Member-row TOP3 reduced 3→2 (生成行/効率 only; コスト</a:t>
            </a:r>
          </a:p>
          <a:p>
            <a:r>
              <a:t>      panel removed because TOP5 cost is now shown above).</a:t>
            </a:r>
          </a:p>
          <a:p>
            <a:r>
              <a:t>  - VERSION: V8 → V9; date 2026-05-08 → 2026-05-09.</a:t>
            </a:r>
          </a:p>
          <a:p/>
          <a:p>
            <a:r>
              <a:t>Mock-data disclosure (CRITICAL):</a:t>
            </a:r>
          </a:p>
          <a:p>
            <a:r>
              <a:t>  - TOP1-3 cost values (130/108/92 [千円]) preserved 1:1 from V7.</a:t>
            </a:r>
          </a:p>
          <a:p>
            <a:r>
              <a:t>  - V7 codenames remapped to real names per user instruction:</a:t>
            </a:r>
          </a:p>
          <a:p>
            <a:r>
              <a:t>      ユーザーA → 山田 太郎 (130, 4,200行, 32.3行/千円)</a:t>
            </a:r>
          </a:p>
          <a:p>
            <a:r>
              <a:t>      ユーザーB → 鈴木 花子 (108, 4,500行, 41.7行/千円)</a:t>
            </a:r>
          </a:p>
          <a:p>
            <a:r>
              <a:t>      ユーザーC → 佐藤 健    ( 92, 2,800行, 30.4行/千円)</a:t>
            </a:r>
          </a:p>
          <a:p>
            <a:r>
              <a:t>  - TOP4 (田中 美咲 78 [千円]) and TOP5 (高橋 翔 64 [千円]) are MOCK values</a:t>
            </a:r>
          </a:p>
          <a:p>
            <a:r>
              <a:t>    supplied by the user for layout-confirmation only. Disclosed on-slide</a:t>
            </a:r>
          </a:p>
          <a:p>
            <a:r>
              <a:t>    via footnote in the TOP5 panel.</a:t>
            </a:r>
          </a:p>
          <a:p/>
          <a:p>
            <a:r>
              <a:t>Data preserved 1:1 from V8 rev3: 月次推移6点, KPI 4枚, 9,900予測,</a:t>
            </a:r>
          </a:p>
          <a:p>
            <a:r>
              <a:t>  822→26,000行, 公開研究3水準, 14チーム配置 (2色, 4象限).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54864" cy="45720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2E"/>
                </a:solidFill>
                <a:latin typeface="Segoe UI"/>
                <a:ea typeface="メイリオ"/>
              </a:rPr>
              <a:t>Claude Code 月次利用量レポート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5080" y="219456"/>
            <a:ext cx="932688" cy="310896"/>
          </a:xfrm>
          <a:prstGeom prst="roundRect">
            <a:avLst>
              <a:gd name="adj" fmla="val 3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080" y="246888"/>
            <a:ext cx="9326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4B942"/>
                </a:solidFill>
                <a:latin typeface="Segoe UI"/>
                <a:ea typeface="メイリオ"/>
              </a:rPr>
              <a:t>V10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594360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2026年3月度  /  報告者: Ogata  /  報告日: 2026-05-11  /  対象期間: 2026/03/01 - 03/31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841248"/>
            <a:ext cx="7013448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914400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Segoe UI"/>
                <a:ea typeface="メイリオ"/>
              </a:rPr>
              <a:t>今月のジャッジ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97280"/>
            <a:ext cx="4297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数字から見えること — チームでの議論材料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98448"/>
            <a:ext cx="4297680" cy="393192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98448"/>
            <a:ext cx="45720" cy="393192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135331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E6F40"/>
                </a:solidFill>
                <a:latin typeface="Segoe UI"/>
                <a:ea typeface="メイリオ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325880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Segoe UI"/>
                <a:ea typeface="メイリオ"/>
              </a:rPr>
              <a:t>効率性は改善傾向 (継続観測中)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499616"/>
            <a:ext cx="374903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22824"/>
                </a:solidFill>
                <a:latin typeface="Segoe UI"/>
                <a:ea typeface="メイリオ"/>
              </a:rPr>
              <a:t>過去6ヶ月でコスト2.3倍に対し採用行数3.7倍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28216"/>
            <a:ext cx="4297680" cy="393192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1728216"/>
            <a:ext cx="45720" cy="393192"/>
          </a:xfrm>
          <a:prstGeom prst="rect">
            <a:avLst/>
          </a:prstGeom>
          <a:solidFill>
            <a:srgbClr val="C88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17830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88E1F"/>
                </a:solidFill>
                <a:latin typeface="Segoe UI"/>
                <a:ea typeface="メイリオ"/>
              </a:rPr>
              <a:t>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1755648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Segoe UI"/>
                <a:ea typeface="メイリオ"/>
              </a:rPr>
              <a:t>来期の投資規模: 外注費用 6.6人月相当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1929384"/>
            <a:ext cx="374903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22824"/>
                </a:solidFill>
                <a:latin typeface="Segoe UI"/>
                <a:ea typeface="メイリオ"/>
              </a:rPr>
              <a:t>外注増員 vs Claude活用拡大、議論事項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57984"/>
            <a:ext cx="4297680" cy="393192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157984"/>
            <a:ext cx="45720" cy="3931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22128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0392B"/>
                </a:solidFill>
                <a:latin typeface="Segoe UI"/>
                <a:ea typeface="メイリオ"/>
              </a:rPr>
              <a:t>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2185415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Segoe UI"/>
                <a:ea typeface="メイリオ"/>
              </a:rPr>
              <a:t>即対応: 認証基盤PJのモデル選定見直し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2359152"/>
            <a:ext cx="374903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22824"/>
                </a:solidFill>
                <a:latin typeface="Segoe UI"/>
                <a:ea typeface="メイリオ"/>
              </a:rPr>
              <a:t>局所的な過剰利用の兆候 (詳細は別ダッシュボード)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1298448"/>
            <a:ext cx="2624328" cy="13258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1353312"/>
            <a:ext cx="2441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5C9A8"/>
                </a:solidFill>
                <a:latin typeface="Segoe UI"/>
                <a:ea typeface="メイリオ"/>
              </a:rPr>
              <a:t>年度末着地予測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1517904"/>
            <a:ext cx="27157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4B942"/>
                </a:solidFill>
                <a:latin typeface="Segoe UI"/>
                <a:ea typeface="メイリオ"/>
              </a:rPr>
              <a:t>9,900 [千円]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937760" y="2075688"/>
            <a:ext cx="2075688" cy="0"/>
          </a:xfrm>
          <a:prstGeom prst="line">
            <a:avLst/>
          </a:prstGeom>
          <a:ln w="63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63440" y="2103120"/>
            <a:ext cx="2624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メイリオ"/>
              </a:rPr>
              <a:t>≈ 外注費用 6.6人月分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2295144"/>
            <a:ext cx="2624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B5C9A8"/>
                </a:solidFill>
                <a:latin typeface="Segoe UI"/>
                <a:ea typeface="メイリオ"/>
              </a:rPr>
              <a:t>1,500 [千円]/月換算 / 現行ペース×12ヶ月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459736"/>
            <a:ext cx="2624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4B942"/>
                </a:solidFill>
                <a:latin typeface="Segoe UI"/>
                <a:ea typeface="メイリオ"/>
              </a:rPr>
              <a:t>投資判断: 人を雇うか / Claude活用拡大か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743200"/>
            <a:ext cx="1645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274320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2788920"/>
            <a:ext cx="1499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総コスト [千円]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292608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F3A2E"/>
                </a:solidFill>
                <a:latin typeface="Segoe UI"/>
                <a:ea typeface="メイリオ"/>
              </a:rPr>
              <a:t>822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" y="32004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+19.0%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" y="3310128"/>
            <a:ext cx="14996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vs 前月 691 [千円]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66543" y="2743200"/>
            <a:ext cx="1645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066543" y="274320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39696" y="2788920"/>
            <a:ext cx="1499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アクティブユーザー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39696" y="292608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F3A2E"/>
                </a:solidFill>
                <a:latin typeface="Segoe UI"/>
                <a:ea typeface="メイリオ"/>
              </a:rPr>
              <a:t>12名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39696" y="32004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+2名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39696" y="3310128"/>
            <a:ext cx="14996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vs 前月 10名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58768" y="2743200"/>
            <a:ext cx="1645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858768" y="274320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0" y="2788920"/>
            <a:ext cx="1499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1人あたり月額 [千円]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0" y="292608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F3A2E"/>
                </a:solidFill>
                <a:latin typeface="Segoe UI"/>
                <a:ea typeface="メイリオ"/>
              </a:rPr>
              <a:t>68.5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2004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−1.2%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1920" y="3310128"/>
            <a:ext cx="14996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vs 前月 69.1 [千円]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50992" y="2743200"/>
            <a:ext cx="1645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50992" y="274320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24144" y="2788920"/>
            <a:ext cx="1499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1人あたり採用行数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24144" y="292608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F3A2E"/>
                </a:solidFill>
                <a:latin typeface="Segoe UI"/>
                <a:ea typeface="メイリオ"/>
              </a:rPr>
              <a:t>2,180行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24144" y="32004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+18%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24144" y="3310128"/>
            <a:ext cx="14996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全社平均 1,520行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" y="3584448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月次推移 — コスト × 採用コード行数 (過去6ヶ月)</a:t>
            </a:r>
          </a:p>
        </p:txBody>
      </p:sp>
      <p:pic>
        <p:nvPicPr>
          <p:cNvPr id="57" name="Picture 56" descr="v10_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813048"/>
            <a:ext cx="4023360" cy="107899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74320" y="4901184"/>
            <a:ext cx="4023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コスト 2.3倍 vs 採用行数 3.7倍 = 効率改善継続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3584448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プロジェクトメンバー コストTOP5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84848" y="36027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89120" y="3813048"/>
            <a:ext cx="289864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89120" y="3813048"/>
            <a:ext cx="2898648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462272" y="3922776"/>
            <a:ext cx="146304" cy="146304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62272" y="3922776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45152" y="3913632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0" y="3959352"/>
            <a:ext cx="1280159" cy="73151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03136" y="391363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130</a:t>
            </a:r>
          </a:p>
        </p:txBody>
      </p:sp>
      <p:sp>
        <p:nvSpPr>
          <p:cNvPr id="68" name="Oval 67"/>
          <p:cNvSpPr/>
          <p:nvPr/>
        </p:nvSpPr>
        <p:spPr>
          <a:xfrm>
            <a:off x="4462272" y="4087368"/>
            <a:ext cx="146304" cy="146304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462272" y="4087368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45152" y="407822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0" y="4123944"/>
            <a:ext cx="1063517" cy="73151"/>
          </a:xfrm>
          <a:prstGeom prst="rect">
            <a:avLst/>
          </a:prstGeom>
          <a:solidFill>
            <a:srgbClr val="A8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03136" y="407822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108</a:t>
            </a:r>
          </a:p>
        </p:txBody>
      </p:sp>
      <p:sp>
        <p:nvSpPr>
          <p:cNvPr id="73" name="Oval 72"/>
          <p:cNvSpPr/>
          <p:nvPr/>
        </p:nvSpPr>
        <p:spPr>
          <a:xfrm>
            <a:off x="4462272" y="4251960"/>
            <a:ext cx="146304" cy="146304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462272" y="4251960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45152" y="4242816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0" y="4288536"/>
            <a:ext cx="905959" cy="73151"/>
          </a:xfrm>
          <a:prstGeom prst="rect">
            <a:avLst/>
          </a:prstGeom>
          <a:solidFill>
            <a:srgbClr val="A8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803136" y="4242816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92</a:t>
            </a:r>
          </a:p>
        </p:txBody>
      </p:sp>
      <p:sp>
        <p:nvSpPr>
          <p:cNvPr id="78" name="Oval 77"/>
          <p:cNvSpPr/>
          <p:nvPr/>
        </p:nvSpPr>
        <p:spPr>
          <a:xfrm>
            <a:off x="4462272" y="4416552"/>
            <a:ext cx="146304" cy="146304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462272" y="4416552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45152" y="4407408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0" y="4453128"/>
            <a:ext cx="768095" cy="73151"/>
          </a:xfrm>
          <a:prstGeom prst="rect">
            <a:avLst/>
          </a:prstGeom>
          <a:solidFill>
            <a:srgbClr val="A8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803136" y="440740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78</a:t>
            </a:r>
          </a:p>
        </p:txBody>
      </p:sp>
      <p:sp>
        <p:nvSpPr>
          <p:cNvPr id="83" name="Oval 82"/>
          <p:cNvSpPr/>
          <p:nvPr/>
        </p:nvSpPr>
        <p:spPr>
          <a:xfrm>
            <a:off x="4462272" y="4581144"/>
            <a:ext cx="146304" cy="146304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462272" y="4581144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45152" y="4572000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86400" y="4617720"/>
            <a:ext cx="630232" cy="73151"/>
          </a:xfrm>
          <a:prstGeom prst="rect">
            <a:avLst/>
          </a:prstGeom>
          <a:solidFill>
            <a:srgbClr val="A8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803136" y="4572000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64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89120" y="4901184"/>
            <a:ext cx="28986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6B6B6B"/>
                </a:solidFill>
                <a:latin typeface="Segoe UI"/>
                <a:ea typeface="メイリオ"/>
              </a:rPr>
              <a:t>※メンバー名・金額はレイアウト確認用のモックデータ／TOP6以降は別紙Excel参照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166360"/>
            <a:ext cx="7013448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760" y="521208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全社14チームのポジショニング — 当チームは右上の理想ゾーン、下位3チームに導入支援余地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65760" y="5413248"/>
            <a:ext cx="6858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X軸: Claude利用量 (相対) →   /   Y軸: 効率 [採用行数 ÷ コスト] ↑   /   バブル径: 1人あたりコスト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05840" y="7498079"/>
            <a:ext cx="4754880" cy="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005840" y="5623560"/>
            <a:ext cx="0" cy="1874519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383280" y="5623560"/>
            <a:ext cx="0" cy="1874519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005840" y="6560820"/>
            <a:ext cx="4754880" cy="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4389120" y="7543800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→ Claude利用量 (大)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60120" y="7543800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(小)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7160" y="6195060"/>
            <a:ext cx="822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↑ 効率
(行/コスト)
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621024" y="5698540"/>
            <a:ext cx="199704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6B6B"/>
                </a:solidFill>
                <a:latin typeface="Segoe UI"/>
                <a:ea typeface="メイリオ"/>
              </a:rPr>
              <a:t>活用優等生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21024" y="5844844"/>
            <a:ext cx="199704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高利用 × 高効率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96035" y="5698540"/>
            <a:ext cx="199704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6B6B"/>
                </a:solidFill>
                <a:latin typeface="Segoe UI"/>
                <a:ea typeface="メイリオ"/>
              </a:rPr>
              <a:t>効率派・規模小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96035" y="5844844"/>
            <a:ext cx="199704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低利用 × 高効率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6035" y="7085685"/>
            <a:ext cx="199704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6B6B"/>
                </a:solidFill>
                <a:latin typeface="Segoe UI"/>
                <a:ea typeface="メイリオ"/>
              </a:rPr>
              <a:t>要支援 (未活用)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96035" y="7231989"/>
            <a:ext cx="199704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低利用 × 低効率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21024" y="7085685"/>
            <a:ext cx="199704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6B6B"/>
                </a:solidFill>
                <a:latin typeface="Segoe UI"/>
                <a:ea typeface="メイリオ"/>
              </a:rPr>
              <a:t>コスト先行・低効率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21024" y="7231989"/>
            <a:ext cx="199704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高利用 × 低効率</a:t>
            </a:r>
          </a:p>
        </p:txBody>
      </p:sp>
      <p:sp>
        <p:nvSpPr>
          <p:cNvPr id="107" name="Oval 106"/>
          <p:cNvSpPr/>
          <p:nvPr/>
        </p:nvSpPr>
        <p:spPr>
          <a:xfrm>
            <a:off x="5003596" y="5682081"/>
            <a:ext cx="182880" cy="182880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5166360" y="5917082"/>
            <a:ext cx="237744" cy="23774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713731" y="5883706"/>
            <a:ext cx="192024" cy="19202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537252" y="5841187"/>
            <a:ext cx="164592" cy="16459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247388" y="6042812"/>
            <a:ext cx="173736" cy="17373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166006" y="6187744"/>
            <a:ext cx="146304" cy="14630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681374" y="6216091"/>
            <a:ext cx="164592" cy="16459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3420770" y="6268212"/>
            <a:ext cx="210312" cy="21031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3178454" y="6338620"/>
            <a:ext cx="219456" cy="21945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2884017" y="6348222"/>
            <a:ext cx="237744" cy="23774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2637129" y="6470294"/>
            <a:ext cx="256032" cy="25603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2385669" y="6362852"/>
            <a:ext cx="283464" cy="28346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919325" y="6634429"/>
            <a:ext cx="265176" cy="26517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860950" y="5625846"/>
            <a:ext cx="182880" cy="182880"/>
          </a:xfrm>
          <a:prstGeom prst="ellipse">
            <a:avLst/>
          </a:prstGeom>
          <a:solidFill>
            <a:srgbClr val="F4B942"/>
          </a:solidFill>
          <a:ln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062118" y="5589270"/>
            <a:ext cx="594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当チーム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035040" y="571500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88E1F"/>
                </a:solidFill>
                <a:latin typeface="Segoe UI"/>
                <a:ea typeface="メイリオ"/>
              </a:rPr>
              <a:t>● 当チーム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035040" y="6080760"/>
            <a:ext cx="1188720" cy="1097280"/>
          </a:xfrm>
          <a:prstGeom prst="rect">
            <a:avLst/>
          </a:prstGeom>
          <a:solidFill>
            <a:srgbClr val="E8EFE3"/>
          </a:solidFill>
          <a:ln w="9525">
            <a:solidFill>
              <a:srgbClr val="F4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089904" y="610819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示唆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89904" y="6300216"/>
            <a:ext cx="109728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当チームは右上に位置し
高利用×高効率を実現。
横展開支援で
左下チームの底上げ
余地あり。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65760" y="7607808"/>
            <a:ext cx="6858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※ バブル位置はV7と一致する相対値。各バブルの個別データはダッシュボード参照。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74320" y="7818120"/>
            <a:ext cx="701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Segoe UI"/>
                <a:ea typeface="メイリオ"/>
              </a:rPr>
              <a:t>メンバー別 TOP3 — 当チーム内 (V7記載の3名を2視点で再ランキング)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74320" y="8028431"/>
            <a:ext cx="3456432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74320" y="8028431"/>
            <a:ext cx="3456432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47472" y="8083296"/>
            <a:ext cx="331012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生成行TOP3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47472" y="8247888"/>
            <a:ext cx="331012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最もコード生成 (行)</a:t>
            </a:r>
          </a:p>
        </p:txBody>
      </p:sp>
      <p:sp>
        <p:nvSpPr>
          <p:cNvPr id="132" name="Oval 131"/>
          <p:cNvSpPr/>
          <p:nvPr/>
        </p:nvSpPr>
        <p:spPr>
          <a:xfrm>
            <a:off x="347472" y="8412480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47472" y="841248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48640" y="8403336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874519" y="8403336"/>
            <a:ext cx="1810511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C88E1F"/>
                </a:solidFill>
                <a:latin typeface="Segoe UI"/>
                <a:ea typeface="メイリオ"/>
              </a:rPr>
              <a:t>4,500行</a:t>
            </a:r>
          </a:p>
        </p:txBody>
      </p:sp>
      <p:sp>
        <p:nvSpPr>
          <p:cNvPr id="136" name="Oval 135"/>
          <p:cNvSpPr/>
          <p:nvPr/>
        </p:nvSpPr>
        <p:spPr>
          <a:xfrm>
            <a:off x="347472" y="8613648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47472" y="861364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48640" y="8604504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874519" y="8604504"/>
            <a:ext cx="1810511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C88E1F"/>
                </a:solidFill>
                <a:latin typeface="Segoe UI"/>
                <a:ea typeface="メイリオ"/>
              </a:rPr>
              <a:t>4,200行</a:t>
            </a:r>
          </a:p>
        </p:txBody>
      </p:sp>
      <p:sp>
        <p:nvSpPr>
          <p:cNvPr id="140" name="Oval 139"/>
          <p:cNvSpPr/>
          <p:nvPr/>
        </p:nvSpPr>
        <p:spPr>
          <a:xfrm>
            <a:off x="347472" y="8814815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47472" y="8814815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48640" y="8805672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874519" y="8805672"/>
            <a:ext cx="1810511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C88E1F"/>
                </a:solidFill>
                <a:latin typeface="Segoe UI"/>
                <a:ea typeface="メイリオ"/>
              </a:rPr>
              <a:t>2,800行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47472" y="8842248"/>
            <a:ext cx="331012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108 [千円] / 41.7 行/千円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822191" y="8028431"/>
            <a:ext cx="3456432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3822191" y="8028431"/>
            <a:ext cx="3456432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895344" y="8083296"/>
            <a:ext cx="331012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効率TOP3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895344" y="8247888"/>
            <a:ext cx="331012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コスパ (行/千円)</a:t>
            </a:r>
          </a:p>
        </p:txBody>
      </p:sp>
      <p:sp>
        <p:nvSpPr>
          <p:cNvPr id="149" name="Oval 148"/>
          <p:cNvSpPr/>
          <p:nvPr/>
        </p:nvSpPr>
        <p:spPr>
          <a:xfrm>
            <a:off x="3895344" y="8412480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895344" y="841248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096511" y="8403336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422392" y="8403336"/>
            <a:ext cx="1810511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C88E1F"/>
                </a:solidFill>
                <a:latin typeface="Segoe UI"/>
                <a:ea typeface="メイリオ"/>
              </a:rPr>
              <a:t>41.7</a:t>
            </a:r>
          </a:p>
        </p:txBody>
      </p:sp>
      <p:sp>
        <p:nvSpPr>
          <p:cNvPr id="153" name="Oval 152"/>
          <p:cNvSpPr/>
          <p:nvPr/>
        </p:nvSpPr>
        <p:spPr>
          <a:xfrm>
            <a:off x="3895344" y="8613648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895344" y="861364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096511" y="8604504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422392" y="8604504"/>
            <a:ext cx="1810511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C88E1F"/>
                </a:solidFill>
                <a:latin typeface="Segoe UI"/>
                <a:ea typeface="メイリオ"/>
              </a:rPr>
              <a:t>32.3</a:t>
            </a:r>
          </a:p>
        </p:txBody>
      </p:sp>
      <p:sp>
        <p:nvSpPr>
          <p:cNvPr id="157" name="Oval 156"/>
          <p:cNvSpPr/>
          <p:nvPr/>
        </p:nvSpPr>
        <p:spPr>
          <a:xfrm>
            <a:off x="3895344" y="8814815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895344" y="8814815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096511" y="8805672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422392" y="8805672"/>
            <a:ext cx="1810511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C88E1F"/>
                </a:solidFill>
                <a:latin typeface="Segoe UI"/>
                <a:ea typeface="メイリオ"/>
              </a:rPr>
              <a:t>30.4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895344" y="8842248"/>
            <a:ext cx="331012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108 [千円] → 4,500行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74320" y="9098280"/>
            <a:ext cx="3337560" cy="123444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365760" y="9153144"/>
            <a:ext cx="31546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5C9A8"/>
                </a:solidFill>
                <a:latin typeface="Segoe UI"/>
                <a:ea typeface="メイリオ"/>
              </a:rPr>
              <a:t>当チーム実績 (3月)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65760" y="9317736"/>
            <a:ext cx="3154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B942"/>
                </a:solidFill>
                <a:latin typeface="Segoe UI"/>
                <a:ea typeface="メイリオ"/>
              </a:rPr>
              <a:t>822 [千円] → 26,000行</a:t>
            </a:r>
          </a:p>
        </p:txBody>
      </p:sp>
      <p:cxnSp>
        <p:nvCxnSpPr>
          <p:cNvPr id="165" name="Connector 164"/>
          <p:cNvCxnSpPr/>
          <p:nvPr/>
        </p:nvCxnSpPr>
        <p:spPr>
          <a:xfrm>
            <a:off x="365760" y="9601200"/>
            <a:ext cx="3154679" cy="0"/>
          </a:xfrm>
          <a:prstGeom prst="line">
            <a:avLst/>
          </a:prstGeom>
          <a:ln w="63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365760" y="9628632"/>
            <a:ext cx="31546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  <a:ea typeface="メイリオ"/>
              </a:rPr>
              <a:t>1,500 [千円] 投資換算 (人月単価相当)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65760" y="9811511"/>
            <a:ext cx="3154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4B942"/>
                </a:solidFill>
                <a:latin typeface="Segoe UI"/>
                <a:ea typeface="メイリオ"/>
              </a:rPr>
              <a:t>約 47,400 行 / 人月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65760" y="10104119"/>
            <a:ext cx="31546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業界中央値 600行/人月の約79倍 (※単純比較)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749039" y="9098280"/>
            <a:ext cx="353872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840479" y="9153144"/>
            <a:ext cx="33558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【参考】 公開研究の月間コード生産量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840479" y="9317736"/>
            <a:ext cx="3355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※ 品質・複雑度・業務特性は考慮されない単純比較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3840479" y="9491472"/>
            <a:ext cx="3355848" cy="24688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3840479" y="9491472"/>
            <a:ext cx="45720" cy="24688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931920" y="9528047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保守的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617720" y="9528047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325 〜 750 行/月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035040" y="9528047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Capers Jones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840479" y="9765792"/>
            <a:ext cx="3355848" cy="24688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3840479" y="9765792"/>
            <a:ext cx="45720" cy="24688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3931920" y="9802367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中央値的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617720" y="9802367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約 1,000 行/月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035040" y="9802367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日本SI業界 (IPA)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840479" y="10040111"/>
            <a:ext cx="3355848" cy="24688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3840479" y="10040111"/>
            <a:ext cx="45720" cy="24688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3931920" y="10076687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生産性高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617720" y="10076687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1,500 〜 1,600 行/月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035040" y="10076687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個人実測 / Scrum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0" y="10332720"/>
            <a:ext cx="7562088" cy="35661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0" y="10332720"/>
            <a:ext cx="54864" cy="356616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82880" y="1036929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  <a:ea typeface="メイリオ"/>
              </a:rPr>
              <a:t>効率は改善継続、年度末予測 9,900 [千円] = 外注費用 6.6人月相当。次手は『外注増員 vs Claude活用拡大』の経営判断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