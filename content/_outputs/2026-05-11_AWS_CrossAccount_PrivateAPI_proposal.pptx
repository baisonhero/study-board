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8404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ARCHITECTURE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メイリオ"/>
              </a:rPr>
              <a:t>AWS Cross-Account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メイリオ"/>
              </a:rPr>
              <a:t>Private API Gateway 呼び出し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  <a:ea typeface="メイリオ"/>
              </a:rPr>
              <a:t>アーキテクチャ提案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B5C9A8"/>
                </a:solidFill>
                <a:latin typeface="Segoe UI"/>
                <a:ea typeface="メイリオ"/>
              </a:rPr>
              <a:t>Account B Lambda（Cognito Trigger）から Account A Private API を呼ぶ最小構成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5669280"/>
            <a:ext cx="10149840" cy="0"/>
          </a:xfrm>
          <a:prstGeom prst="line">
            <a:avLst/>
          </a:prstGeom>
          <a:ln w="1270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5806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  <a:ea typeface="メイリオ"/>
              </a:rPr>
              <a:t>報告者: Ogata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  <a:ea typeface="メイリオ"/>
              </a:rPr>
              <a:t>2026-05-11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5806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B5C9A8"/>
                </a:solidFill>
                <a:latin typeface="Segoe UI"/>
                <a:ea typeface="メイリオ"/>
              </a:rPr>
              <a:t>対象: 単一リージョン / 同一 VPC（B 側）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2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本資料は背景→構成図→各アカウントの作業→認証→実装→運用の順で読み進められます。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5544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15544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5544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5544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背景 / 目的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8059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要件・制約・ゴール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5544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アーキテクチャ全体図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8059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VPCE 経由のプライベート完結構成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24688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24688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24688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4688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Account A がやること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27203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Resource Policy 更新・VPCE-ID 受け入れ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4688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4688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Account B がやること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7203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VPCE 作成・Lambda VPC アタッチ・IAM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33832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" y="33832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33832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33832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認証方式の比較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36347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AWS_IAM / API Key / なし / Authorizer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3832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3832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3832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3832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Lambda Python サンプルコード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36347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SigV4 署名 + VPCE 固有 URL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2976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" y="42976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4297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42976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Cognito トリガーとしての注意点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45491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タイムアウト・Cold start・エラー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976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297680"/>
            <a:ext cx="54864" cy="5029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297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C88E1F"/>
                </a:solidFill>
                <a:latin typeface="Segoe UI"/>
                <a:ea typeface="メイリオ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297680"/>
            <a:ext cx="3931920" cy="276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コスト / 監視 / 追加考慮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4549140"/>
            <a:ext cx="39319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VPCE 費用・CloudWatch・X-Ray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背景 / 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3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Cognito 認証フローの中で、別アカウントの Private API を AWS バックボーン経由で呼ぶ最小構成を確立する。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36576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8E1F"/>
                </a:solidFill>
                <a:latin typeface="Segoe UI"/>
                <a:ea typeface="メイリオ"/>
              </a:rPr>
              <a:t>要件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65960"/>
            <a:ext cx="32918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● Account A: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Private API Gateway が既に存在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● Account B: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Lambda（Python）から A を呼ぶ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● Lambda B は Cognito User Pool の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認証トリガー（例: Pre Auth）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6576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54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8E1F"/>
                </a:solidFill>
                <a:latin typeface="Segoe UI"/>
                <a:ea typeface="メイリオ"/>
              </a:rPr>
              <a:t>制約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65960"/>
            <a:ext cx="32918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● API はインターネット非公開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● 通信は AWS バックボーン完結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● 同一リージョン・既存 VPC を利用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● Private DNS の cross-account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共有は前提とせず VPCE 固有 URL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を採用する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6576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73152" cy="42519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554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8E1F"/>
                </a:solidFill>
                <a:latin typeface="Segoe UI"/>
                <a:ea typeface="メイリオ"/>
              </a:rPr>
              <a:t>ゴール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965960"/>
            <a:ext cx="32918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● B → A をプライベート経路で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確実に到達できる構成を確立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● 認証/認可を明確化し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監査可能な状態にする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● Cognito Trigger の運用制約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824"/>
                </a:solidFill>
                <a:latin typeface="Segoe UI"/>
                <a:ea typeface="メイリオ"/>
              </a:rPr>
              <a:t>    （5秒タイムアウト等）に耐える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アーキテクチャ全体図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4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Lambda B → Interface VPC Endpoint → execute-api → Account A の Private API、すべて AWS 内で完結。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669280" cy="4297680"/>
          </a:xfrm>
          <a:prstGeom prst="rect">
            <a:avLst/>
          </a:prstGeom>
          <a:solidFill>
            <a:srgbClr val="E8EFE3"/>
          </a:solidFill>
          <a:ln w="1905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5669280" cy="36576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630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  <a:ea typeface="メイリオ"/>
              </a:rPr>
              <a:t>Account B  （呼び出し側）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011680"/>
            <a:ext cx="219456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084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Cognito User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77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Pre Authentication Trigger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017520"/>
            <a:ext cx="5120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063239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E6F40"/>
                </a:solidFill>
                <a:latin typeface="Segoe UI"/>
                <a:ea typeface="メイリオ"/>
              </a:rPr>
              <a:t>VPC  /  Private Subnet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520439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DF1D9"/>
          </a:solidFill>
          <a:ln w="15240"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59359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88E1F"/>
                </a:solidFill>
                <a:latin typeface="Segoe UI"/>
                <a:ea typeface="メイリオ"/>
              </a:rPr>
              <a:t>Lambda  (Python)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862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SigV4 署名 + 環境変数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520439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59359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6F40"/>
                </a:solidFill>
                <a:latin typeface="Segoe UI"/>
                <a:ea typeface="メイリオ"/>
              </a:rPr>
              <a:t>Interface VPCE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84962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Segoe UI"/>
                <a:ea typeface="メイリオ"/>
              </a:rPr>
              <a:t>com.amazonaws.{region}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050791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Segoe UI"/>
                <a:ea typeface="メイリオ"/>
              </a:rPr>
              <a:t>.execute-api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29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Segoe UI"/>
                <a:ea typeface="メイリオ"/>
              </a:rPr>
              <a:t>Lambda 実行ロール  +  Security Group（443 outbound → VPCE）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2788920"/>
            <a:ext cx="0" cy="731519"/>
          </a:xfrm>
          <a:prstGeom prst="line">
            <a:avLst/>
          </a:prstGeom>
          <a:ln w="22860">
            <a:solidFill>
              <a:srgbClr val="1F3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4560" y="28346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F3A2E"/>
                </a:solidFill>
                <a:latin typeface="Segoe UI"/>
                <a:ea typeface="メイリオ"/>
              </a:rPr>
              <a:t>invoke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3931920"/>
            <a:ext cx="274320" cy="0"/>
          </a:xfrm>
          <a:prstGeom prst="line">
            <a:avLst/>
          </a:prstGeom>
          <a:ln w="25400">
            <a:solidFill>
              <a:srgbClr val="C88E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675120" y="1417320"/>
            <a:ext cx="5029200" cy="4297680"/>
          </a:xfrm>
          <a:prstGeom prst="rect">
            <a:avLst/>
          </a:prstGeom>
          <a:solidFill>
            <a:srgbClr val="E8EFE3"/>
          </a:solidFill>
          <a:ln w="1905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1417320"/>
            <a:ext cx="5029200" cy="36576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14630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  <a:ea typeface="メイリオ"/>
              </a:rPr>
              <a:t>Account A  （API 提供側）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29718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DF1D9"/>
          </a:solidFill>
          <a:ln w="19050"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063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88E1F"/>
                </a:solidFill>
                <a:latin typeface="Segoe UI"/>
                <a:ea typeface="メイリオ"/>
              </a:rPr>
              <a:t>API Gateway  (Private)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4290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Endpoint Type: PRIVATE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6850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1F3A2E"/>
                </a:solidFill>
                <a:latin typeface="Segoe UI"/>
                <a:ea typeface="メイリオ"/>
              </a:rPr>
              <a:t>Resource Policy で許可 Principal / VPCE-ID を制御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4343400"/>
            <a:ext cx="4114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4434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6F40"/>
                </a:solidFill>
                <a:latin typeface="Segoe UI"/>
                <a:ea typeface="メイリオ"/>
              </a:rPr>
              <a:t>Backend  (Lambda / その他)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7274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Segoe UI"/>
                <a:ea typeface="メイリオ"/>
              </a:rPr>
              <a:t>本資料の対象外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89720" y="4069080"/>
            <a:ext cx="0" cy="274320"/>
          </a:xfrm>
          <a:prstGeom prst="line">
            <a:avLst/>
          </a:prstGeom>
          <a:ln w="19050">
            <a:solidFill>
              <a:srgbClr val="1F3A2E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715000" y="3520440"/>
            <a:ext cx="1417320" cy="411480"/>
          </a:xfrm>
          <a:prstGeom prst="line">
            <a:avLst/>
          </a:prstGeom>
          <a:ln w="38100">
            <a:solidFill>
              <a:srgbClr val="C88E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89320" y="3474720"/>
            <a:ext cx="14173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349300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88E1F"/>
                </a:solidFill>
                <a:latin typeface="Segoe UI"/>
                <a:ea typeface="メイリオ"/>
              </a:rPr>
              <a:t>VPCE 固有 URL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367588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Segoe UI"/>
                <a:ea typeface="メイリオ"/>
              </a:rPr>
              <a:t>SigV4 / Host 上書き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74243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1">
                <a:solidFill>
                  <a:srgbClr val="C88E1F"/>
                </a:solidFill>
                <a:latin typeface="Segoe UI"/>
                <a:ea typeface="メイリオ"/>
              </a:rPr>
              <a:t>── AWS Backbone（インターネット非経由）──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Account A がやること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5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Resource Policy で「誰が（Principal）どこから（VPCE-ID）」呼べるかを制御し、認証方式に応じた追加対応を行う。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58191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581912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49047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Resource Policy の更新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874519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Private API の Resource Policy に Account B の VPCE-ID を許可する。
（Condition: aws:SourceVpce = vpce-xxxxxxxx）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96312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496312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2660904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660904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569464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Principal の追加（AWS_IAM 採用時）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95351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Action: execute-api:Invoke の Principal に
arn:aws:iam::&lt;account-b&gt;:role/&lt;lambda-role&gt; を許可。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75304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575304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739896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39896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64845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VPCE-ID の受け入れ調整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03250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Account B 側で作成された VPCE-ID を共有してもらい、
上記 Resource Policy へ反映する（事前合意）。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54296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654296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4818888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18888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72744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認証方式に応じた追加対応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111496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API Key を使うなら Usage Plan + Key 発行 / カスタム Authorizer なら Lambda 配備。
認証なしの場合は Resource Policy だけが信頼境界となる点に注意。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Account B がやること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6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VPCE 作成（Private DNS OFF）と Lambda の VPC アタッチ。SigV4 用 IAM ロールと環境変数を整える。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349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50876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VPC / Subnet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892808"/>
            <a:ext cx="50749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Lambda を配置する VPC を確認。
プライベートサブネット ×2 以上推奨（マルチ AZ）。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5349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73152" cy="132588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92608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Interface VPCE 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10128"/>
            <a:ext cx="50749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Service: com.amazonaws.{region}.execute-api
★ Private DNS = OFF（cross-account の鉄則）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5349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73152" cy="132588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34340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Security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727448"/>
            <a:ext cx="50749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VPCE 用 SG: 443 inbound from Lambda SG。
Lambda SG: 443 outbound to VPCE SG。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5349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73152" cy="132588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50876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Lambda VPC アタッチ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892808"/>
            <a:ext cx="50749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上記サブネット + Lambda SG に紐付ける。
NAT 不要（VPCE で完結）。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834640"/>
            <a:ext cx="5349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73152" cy="132588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92608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Lambda 実行ロール（IAM）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10128"/>
            <a:ext cx="50749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execute-api:Invoke を該当 API の ARN に許可。
AWS_IAM 採用時のみ必要（他方式では不要）。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251960"/>
            <a:ext cx="5349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251960"/>
            <a:ext cx="73152" cy="132588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34340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環境変数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727448"/>
            <a:ext cx="50749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API_ID / VPCE_ID / STAGE / API_PATH を設定。
リージョンは AWS_REGION（予約済み）を使用。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認証方式の比較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7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AWS_IAM を推奨。証跡（CloudTrail）と最小権限制御の両立、追加コンポーネント不要が決め手。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2103120" cy="50292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  <a:ea typeface="メイリオ"/>
              </a:rPr>
              <a:t>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417320"/>
            <a:ext cx="4023360" cy="50292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41732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  <a:ea typeface="メイリオ"/>
              </a:rPr>
              <a:t>概要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417320"/>
            <a:ext cx="1645920" cy="50292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  <a:ea typeface="メイリオ"/>
              </a:rPr>
              <a:t>セキュリティ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417320"/>
            <a:ext cx="1645920" cy="50292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  <a:ea typeface="メイリオ"/>
              </a:rPr>
              <a:t>実装難易度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417320"/>
            <a:ext cx="1645920" cy="50292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417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  <a:ea typeface="メイリオ"/>
              </a:rPr>
              <a:t>監査容易性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1920240"/>
            <a:ext cx="2103120" cy="868680"/>
          </a:xfrm>
          <a:prstGeom prst="rect">
            <a:avLst/>
          </a:prstGeom>
          <a:solidFill>
            <a:srgbClr val="FDF1D9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1920240"/>
            <a:ext cx="188366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C88E1F"/>
                </a:solidFill>
                <a:latin typeface="Segoe UI"/>
                <a:ea typeface="メイリオ"/>
              </a:rPr>
              <a:t>(a) AWS_IAM ★推奨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1920240"/>
            <a:ext cx="4023360" cy="868680"/>
          </a:xfrm>
          <a:prstGeom prst="rect">
            <a:avLst/>
          </a:prstGeom>
          <a:solidFill>
            <a:srgbClr val="FDF1D9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965960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Account A の Resource Policy + Principal に B の Lambda 実行ロール ARN を許可。Lambda 側は SigV4 署名で呼ぶ。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920240"/>
            <a:ext cx="1645920" cy="868680"/>
          </a:xfrm>
          <a:prstGeom prst="rect">
            <a:avLst/>
          </a:prstGeom>
          <a:solidFill>
            <a:srgbClr val="FDF1D9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92024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◎ 強い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920240"/>
            <a:ext cx="1645920" cy="868680"/>
          </a:xfrm>
          <a:prstGeom prst="rect">
            <a:avLst/>
          </a:prstGeom>
          <a:solidFill>
            <a:srgbClr val="FDF1D9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92024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○ 中程度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920240"/>
            <a:ext cx="1645920" cy="868680"/>
          </a:xfrm>
          <a:prstGeom prst="rect">
            <a:avLst/>
          </a:prstGeom>
          <a:solidFill>
            <a:srgbClr val="FDF1D9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92024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◎ CloudTrail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788920"/>
            <a:ext cx="21031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2788920"/>
            <a:ext cx="188366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(b) API Key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788920"/>
            <a:ext cx="402336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2834639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API Gateway の Usage Plan + API Key。Lambda は x-api-key ヘッダで呼ぶ。Key の Secrets Manager 管理が前提。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78892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△ Key 漏洩リスク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78892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◎ 容易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278892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○ 利用計画ログ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657600"/>
            <a:ext cx="21031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3657600"/>
            <a:ext cx="188366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(c) 認証なし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3657600"/>
            <a:ext cx="402336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3703320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Resource Policy（VPCE-ID + Principal）だけで信頼。VPC 越境がない前提で運用できるが、A の Resource Policy のみが境界となる。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65760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365760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△ 単一防御層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65760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365760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◎ 最小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365760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365760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△ 識別性低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526280"/>
            <a:ext cx="21031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4526280"/>
            <a:ext cx="188366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(d) カスタム Lambda Authorizer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4526280"/>
            <a:ext cx="402336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4572000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Account A 側に Authorizer Lambda を配置し、独自トークンや JWT を検証。柔軟だが運用負荷が増える。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52628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0" y="452628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○ 設計依存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452628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452628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△ 高い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4526280"/>
            <a:ext cx="1645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452628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○ 自前ログ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5321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Segoe UI"/>
                <a:ea typeface="メイリオ"/>
              </a:rPr>
              <a:t>判断基準: ① セキュリティ（漏洩耐性・最小権限）  ② 実装容易性（Lambda コードの薄さ）  ③ 監査容易性（誰が呼んだかを後追いできるか）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Lambda Python サンプルコード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8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VPCE 固有 URL + SigV4 署名 + Host ヘッダ上書きの 3 点が要点。event をそのまま返せば認証継続。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11064240" cy="3977639"/>
          </a:xfrm>
          <a:prstGeom prst="roundRect">
            <a:avLst>
              <a:gd name="adj" fmla="val 2000"/>
            </a:avLst>
          </a:prstGeom>
          <a:solidFill>
            <a:srgbClr val="161F1A"/>
          </a:solidFill>
          <a:ln w="6350">
            <a:solidFill>
              <a:srgbClr val="1F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11064240" cy="292608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4B942"/>
                </a:solidFill>
                <a:latin typeface="Consolas"/>
                <a:ea typeface="メイリオ"/>
              </a:rPr>
              <a:t>  lambda_function.py    —    Cognito Pre Authentication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801368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import os, json, boto3, urllib3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924812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from botocore.auth import SigV4Auth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048256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from botocore.awsrequest import AWSRequest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171700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295144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http = urllib3.PoolManager()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418588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API_ID  = os.environ["API_ID"]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542032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VPCE_ID = os.environ["VPCE_ID"]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2665476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REGION  = os.environ["AWS_REGION"]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2788920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STAGE   = os.environ["STAGE"]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912364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API_PATH = os.environ.get("API_PATH", "/users")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035808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159252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4B942"/>
                </a:solidFill>
                <a:latin typeface="Consolas"/>
                <a:ea typeface="Consolas"/>
              </a:rPr>
              <a:t>def _signed_request(method, url, body=""):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282696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creds = boto3.Session().get_credentials().get_frozen_credentials()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406140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req = AWSRequest(method=method, url=url, data=body)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529584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SigV4Auth(creds, "execute-api", REGION).add_auth(req)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653028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return dict(req.headers.items())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776472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899915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4B942"/>
                </a:solidFill>
                <a:latin typeface="Consolas"/>
                <a:ea typeface="Consolas"/>
              </a:rPr>
              <a:t>def lambda_handler(event, context):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023360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user_email = event["request"]["userAttributes"].get("email", "unknown")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146804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url = (f"https://{API_ID}-{VPCE_ID}.execute-api.{REGION}"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270248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       f".amazonaws.com/{STAGE}{API_PATH}?email={user_email}")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393692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headers = _signed_request("GET", url)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517136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A8E"/>
                </a:solidFill>
                <a:latin typeface="Consolas"/>
                <a:ea typeface="Consolas"/>
              </a:rPr>
              <a:t>    # API Gateway は Host で API 識別 → 標準 URL の Host で上書き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4640580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headers["Host"] = f"{API_ID}.execute-api.{REGION}.amazonaws.com"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4764024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resp = http.request("GET", url, headers=headers, timeout=urllib3.Timeout(3.0))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4887468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if resp.status != 200: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010912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6EDE2"/>
                </a:solidFill>
                <a:latin typeface="Consolas"/>
                <a:ea typeface="Consolas"/>
              </a:rPr>
              <a:t>        raise Exception(f"upstream {resp.status}: {resp.data[:200]}")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5134356"/>
            <a:ext cx="10698480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A8E"/>
                </a:solidFill>
                <a:latin typeface="Consolas"/>
                <a:ea typeface="Consolas"/>
              </a:rPr>
              <a:t>    return event   # Cognito は event を返すと認証継続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8640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88E1F"/>
                </a:solidFill>
                <a:latin typeface="Segoe UI"/>
                <a:ea typeface="メイリオ"/>
              </a:rPr>
              <a:t>★ 3 点セット:  ① VPCE 固有 URL   ② SigV4 署名   ③ Host ヘッダの上書き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Cognito トリガーとしての注意点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9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5 秒のハードタイムアウトを軸に、Cold start とエラー伝播の方針を先に決めてから実装する。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581912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5819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49047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タイムアウト 5 秒の壁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874519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Cognito Trigger は 5 秒以内に Lambda が応答しないと認証失敗。
API 呼び出しは 3 秒タイムアウト（urllib3）で打ち切り、再試行 1 回までに留める。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96312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496312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2660904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660904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569464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Cold start 対策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95351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VPC アタッチ Lambda は初回起動が遅い。Provisioned Concurrency を最小 1 で常駐させる、
またはランタイムを軽量化（不要ライブラリを除く）。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75304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575304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739896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39896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64845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エラーハンドリング方針の事前合意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03250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Trigger で例外を投げる = 認証拒否。要件次第で「ログを残して握り潰し→event 返却」も選択肢。
失敗時の挙動はビジネス判断（拒否 / 通過）として事前に文書化する。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54296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654296"/>
            <a:ext cx="73152" cy="1005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481888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18888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Segoe UI"/>
                <a:ea typeface="メイリオ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72744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冪等性 / 副作用の整理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111496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Pre Auth は同一セッションで再実行されうる。書き込み系を呼ぶ場合は idempotency key で重複を防ぐ。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3A2E"/>
                </a:solidFill>
                <a:latin typeface="Segoe UI"/>
                <a:ea typeface="メイリオ"/>
              </a:rPr>
              <a:t>コスト / 監視 / 追加考慮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10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Segoe UI"/>
                <a:ea typeface="メイリオ"/>
              </a:rPr>
              <a:t>VPCE の常時課金を許容できることが構成成立の前提。監視はメトリクス＋構造化ログ＋トレースの三段構え。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349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73152" cy="205740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08760"/>
            <a:ext cx="49834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コスト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47672"/>
            <a:ext cx="49834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Interface VPCE: AZ × 時間 + データ処理料金
● 同一 AZ 内呼び出しでデータ転送は最小化
● Lambda: VPC アタッチによる ENI 維持コスト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39312"/>
            <a:ext cx="5349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39312"/>
            <a:ext cx="73152" cy="205740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49834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監視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9664"/>
            <a:ext cx="49834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CloudWatch Logs (Lambda) → エラーレート / レイテンシ
● API Gateway 4xx/5xx メトリクス
● VPC Flow Logs（Reject トラフィック検知）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5349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73152" cy="205740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49834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トレース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47672"/>
            <a:ext cx="49834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X-Ray 有効化（Lambda + API GW）
● サブセグメント: SigV4 署名 / HTTP 呼び出し
● 相関 ID は Cognito event['request']['userAttributes'] から付与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639312"/>
            <a:ext cx="5349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639312"/>
            <a:ext cx="73152" cy="2057400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730752"/>
            <a:ext cx="49834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Segoe UI"/>
                <a:ea typeface="メイリオ"/>
              </a:rPr>
              <a:t>フォールバック / 拡張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69664"/>
            <a:ext cx="49834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失敗時挙動の合意（拒否 / 通過）を IaC コメントで明記
● Account A 側が同一 VPC 内なら VPCE は省略可
● 将来クロスリージョンに広げる場合は Private DNS 戦略を再検討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F3A2E"/>
                </a:solidFill>
                <a:latin typeface="Segoe UI"/>
                <a:ea typeface="メイリオ"/>
              </a:rPr>
              <a:t>Appendix: VPC Peering の要否判断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C88E1F"/>
                </a:solidFill>
                <a:latin typeface="Segoe UI"/>
                <a:ea typeface="メイリオ"/>
              </a:rPr>
              <a:t>—  今回は不要、根拠を 3 点で示す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02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Segoe UI"/>
                <a:ea typeface="メイリオ"/>
              </a:rPr>
              <a:t>11 / 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943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16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このページの結論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2910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3A2E"/>
                </a:solidFill>
                <a:latin typeface="Segoe UI"/>
                <a:ea typeface="メイリオ"/>
              </a:rPr>
              <a:t>Private API GW を叩くだけなら VPCE で完結。VPC Peering は将来 A の VPC 内リソース直接接続が必要になった時に再検討。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544068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52704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8E1F"/>
                </a:solidFill>
                <a:latin typeface="Segoe UI"/>
                <a:ea typeface="メイリオ"/>
              </a:rPr>
              <a:t>なぜ不要なのか（通信経路の本質）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011680"/>
            <a:ext cx="4526280" cy="457200"/>
          </a:xfrm>
          <a:prstGeom prst="roundRect">
            <a:avLst>
              <a:gd name="adj" fmla="val 15000"/>
            </a:avLst>
          </a:prstGeom>
          <a:solidFill>
            <a:srgbClr val="FDF1D9"/>
          </a:solidFill>
          <a:ln w="12700"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1168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88E1F"/>
                </a:solidFill>
                <a:latin typeface="Segoe UI"/>
                <a:ea typeface="メイリオ"/>
              </a:rPr>
              <a:t>Lambda  (Account B)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60420" y="2468880"/>
            <a:ext cx="0" cy="164592"/>
          </a:xfrm>
          <a:prstGeom prst="line">
            <a:avLst/>
          </a:prstGeom>
          <a:ln w="19050">
            <a:solidFill>
              <a:srgbClr val="1F3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97280" y="2633472"/>
            <a:ext cx="45262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63347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E6F40"/>
                </a:solidFill>
                <a:latin typeface="Segoe UI"/>
                <a:ea typeface="メイリオ"/>
              </a:rPr>
              <a:t>VPCE  (B / execute-api)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60420" y="3090672"/>
            <a:ext cx="0" cy="164592"/>
          </a:xfrm>
          <a:prstGeom prst="line">
            <a:avLst/>
          </a:prstGeom>
          <a:ln w="19050">
            <a:solidFill>
              <a:srgbClr val="1F3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97280" y="3255264"/>
            <a:ext cx="4526280" cy="457200"/>
          </a:xfrm>
          <a:prstGeom prst="roundRect">
            <a:avLst>
              <a:gd name="adj" fmla="val 15000"/>
            </a:avLst>
          </a:prstGeom>
          <a:solidFill>
            <a:srgbClr val="E8EFE3"/>
          </a:solidFill>
          <a:ln w="12700">
            <a:solidFill>
              <a:srgbClr val="1F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25526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A2E"/>
                </a:solidFill>
                <a:latin typeface="Segoe UI"/>
                <a:ea typeface="メイリオ"/>
              </a:rPr>
              <a:t>AWS バックボーン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60420" y="3712464"/>
            <a:ext cx="0" cy="164592"/>
          </a:xfrm>
          <a:prstGeom prst="line">
            <a:avLst/>
          </a:prstGeom>
          <a:ln w="19050">
            <a:solidFill>
              <a:srgbClr val="1F3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7280" y="3877056"/>
            <a:ext cx="45262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877056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E6F40"/>
                </a:solidFill>
                <a:latin typeface="Segoe UI"/>
                <a:ea typeface="メイリオ"/>
              </a:rPr>
              <a:t>API Gateway サービス（AWS マネージド）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60420" y="4334256"/>
            <a:ext cx="0" cy="164592"/>
          </a:xfrm>
          <a:prstGeom prst="line">
            <a:avLst/>
          </a:prstGeom>
          <a:ln w="19050">
            <a:solidFill>
              <a:srgbClr val="1F3A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97280" y="4498848"/>
            <a:ext cx="4526280" cy="457200"/>
          </a:xfrm>
          <a:prstGeom prst="roundRect">
            <a:avLst>
              <a:gd name="adj" fmla="val 15000"/>
            </a:avLst>
          </a:prstGeom>
          <a:solidFill>
            <a:srgbClr val="FDF1D9"/>
          </a:solidFill>
          <a:ln w="12700"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498848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88E1F"/>
                </a:solidFill>
                <a:latin typeface="Segoe UI"/>
                <a:ea typeface="メイリオ"/>
              </a:rPr>
              <a:t>Account A  の  Private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001768"/>
            <a:ext cx="4983480" cy="822960"/>
          </a:xfrm>
          <a:prstGeom prst="roundRect">
            <a:avLst>
              <a:gd name="adj" fmla="val 10000"/>
            </a:avLst>
          </a:prstGeom>
          <a:solidFill>
            <a:srgbClr val="FDF1D9"/>
          </a:solidFill>
          <a:ln w="10160"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74920"/>
            <a:ext cx="4709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 i="0">
                <a:solidFill>
                  <a:srgbClr val="C88E1F"/>
                </a:solidFill>
                <a:latin typeface="Segoe UI"/>
                <a:ea typeface="メイリオ"/>
              </a:rPr>
              <a:t>VPCE は AWS サービスへの専用入口。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C88E1F"/>
                </a:solidFill>
                <a:latin typeface="Segoe UI"/>
                <a:ea typeface="メイリオ"/>
              </a:rPr>
              <a:t>相手 VPC への接続線ではない。</a:t>
            </a:r>
          </a:p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6B6B6B"/>
                </a:solidFill>
                <a:latin typeface="Segoe UI"/>
                <a:ea typeface="メイリオ"/>
              </a:rPr>
              <a:t>Private API は AWS マネージドの execute-api 上にホスト。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1417320"/>
            <a:ext cx="73152" cy="20574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508760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8E1F"/>
                </a:solidFill>
                <a:latin typeface="Segoe UI"/>
                <a:ea typeface="メイリオ"/>
              </a:rPr>
              <a:t>VPC Peering が必要 vs 不要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892808"/>
            <a:ext cx="3520440" cy="27432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12680" y="1892808"/>
            <a:ext cx="1600200" cy="27432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89280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  <a:ea typeface="メイリオ"/>
              </a:rPr>
              <a:t>  ケース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189280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  <a:ea typeface="メイリオ"/>
              </a:rPr>
              <a:t>必要？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167128"/>
            <a:ext cx="3520440" cy="347472"/>
          </a:xfrm>
          <a:prstGeom prst="rect">
            <a:avLst/>
          </a:prstGeom>
          <a:solidFill>
            <a:srgbClr val="FDF1D9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12680" y="2167128"/>
            <a:ext cx="1600200" cy="347472"/>
          </a:xfrm>
          <a:prstGeom prst="rect">
            <a:avLst/>
          </a:prstGeom>
          <a:solidFill>
            <a:srgbClr val="FDF1D9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2167128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Private API GW を叩く（今回）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167128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8E1F"/>
                </a:solidFill>
                <a:latin typeface="Segoe UI"/>
                <a:ea typeface="メイリオ"/>
              </a:rPr>
              <a:t>不要 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514600"/>
            <a:ext cx="35204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12680" y="2514600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79" y="2514600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A の VPC 内 RDS / EC2 直接接続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2514600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必要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862072"/>
            <a:ext cx="35204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12680" y="2862072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79" y="2862072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大量サービス・複数アカウント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862072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TGW / PrivateLink 推奨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3209544"/>
            <a:ext cx="35204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12680" y="3209544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79" y="3209544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Private DNS 共有のため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3209544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824"/>
                </a:solidFill>
                <a:latin typeface="Segoe UI"/>
                <a:ea typeface="メイリオ"/>
              </a:rPr>
              <a:t>不要（RAM で R53 共有）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657600"/>
            <a:ext cx="2651760" cy="2240280"/>
          </a:xfrm>
          <a:prstGeom prst="rect">
            <a:avLst/>
          </a:prstGeom>
          <a:solidFill>
            <a:srgbClr val="E8EFE3"/>
          </a:solidFill>
          <a:ln w="10160"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3657600"/>
            <a:ext cx="2651760" cy="2240280"/>
          </a:xfrm>
          <a:prstGeom prst="rect">
            <a:avLst/>
          </a:prstGeom>
          <a:solidFill>
            <a:srgbClr val="FDF1D9"/>
          </a:solidFill>
          <a:ln w="10160"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76732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2E"/>
                </a:solidFill>
                <a:latin typeface="Segoe UI"/>
                <a:ea typeface="メイリオ"/>
              </a:rPr>
              <a:t>Pros（Peering なし）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11480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構成シンプル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448056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CIDR 重複リスク回避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8463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最小権限（VPCE-ID で縛れる）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376732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C88E1F"/>
                </a:solidFill>
                <a:latin typeface="Segoe UI"/>
                <a:ea typeface="メイリオ"/>
              </a:rPr>
              <a:t>Cons（Peering ありの負荷）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41148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両アカウント網設定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44805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CIDR 重複 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48463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ブラスト半径拡大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52120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824"/>
                </a:solidFill>
                <a:latin typeface="Segoe UI"/>
                <a:ea typeface="メイリオ"/>
              </a:rPr>
              <a:t>● クロス AZ データ転送コスト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