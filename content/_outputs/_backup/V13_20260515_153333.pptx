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54864" cy="45720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7373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0116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859536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過去2ヶ月でコスト 1.07倍 vs 採用行数 1.13倍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Q1進捗 53% (5月末 / 実績 1,200 / 計画 2,250 [千円])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 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4B942"/>
                </a:solidFill>
                <a:latin typeface="Segoe UI"/>
                <a:ea typeface="メイリオ"/>
              </a:rPr>
              <a:t>1,200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9884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6月までの予測コスト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4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1,950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9884" y="1664208"/>
            <a:ext cx="13624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外注費用 1.2人月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9884" y="1819656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4872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32504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0136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Q1合計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04872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32504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0136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04872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32504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0136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1,200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5月の実績 (前月)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5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22158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75504"/>
            <a:ext cx="20665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6F40"/>
                </a:solidFill>
                <a:latin typeface="Segoe UI"/>
                <a:ea typeface="メイリオ"/>
              </a:rPr>
              <a:t>5月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376672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797296"/>
            <a:ext cx="2066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E6F40"/>
                </a:solidFill>
                <a:latin typeface="Segoe UI"/>
                <a:ea typeface="メイリオ"/>
              </a:rPr>
              <a:t>+6.9%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998464"/>
            <a:ext cx="2066543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4月 580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70048" y="5120640"/>
            <a:ext cx="22158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70048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0" y="5175504"/>
            <a:ext cx="20665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6F40"/>
                </a:solidFill>
                <a:latin typeface="Segoe UI"/>
                <a:ea typeface="メイリオ"/>
              </a:rPr>
              <a:t>ユーザー数 (MAU)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376672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10名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43200" y="5797296"/>
            <a:ext cx="2066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0" y="5998464"/>
            <a:ext cx="2066543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4月 8名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65776" y="5120640"/>
            <a:ext cx="22158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065776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38928" y="5175504"/>
            <a:ext cx="20665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6F40"/>
                </a:solidFill>
                <a:latin typeface="Segoe UI"/>
                <a:ea typeface="メイリオ"/>
              </a:rPr>
              <a:t>5月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38928" y="5376672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62.0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38928" y="5797296"/>
            <a:ext cx="2066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02A2A"/>
                </a:solidFill>
                <a:latin typeface="Segoe UI"/>
                <a:ea typeface="メイリオ"/>
              </a:rPr>
              <a:t>-14.5%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38928" y="5998464"/>
            <a:ext cx="2066543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4月 72.5 [千円]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502920" y="7680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コスト
[千円/人]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高コスト × 低生産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高コスト × 高生産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低コスト × 低生産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低コスト × 高生産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MAU (アクティブユーザー数)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20072"/>
            <a:ext cx="325526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1005840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10085832"/>
            <a:ext cx="325526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外注費用換算 (1,600 千円/人月)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250424"/>
            <a:ext cx="325526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46,300 行 / 人月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6263640"/>
            <a:ext cx="2276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626364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318504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5月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318504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53796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53796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53796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537960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702552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702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684264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68426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867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8671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848856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84885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70317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70317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70134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70134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7196328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71963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71963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71963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6263640"/>
            <a:ext cx="2276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626364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318504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5月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318504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53796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53796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53796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537960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702552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702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684264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68426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867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8671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848856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84885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70317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70317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70134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70134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7196328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71963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71963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71963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6263640"/>
            <a:ext cx="2276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626364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318504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5月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318504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53796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53796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53796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537960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702552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702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684264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68426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867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8671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848856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84885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70317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70317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70134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70134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7196328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71963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71963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71963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3200400" y="7406640"/>
            <a:ext cx="4069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897880" y="8869680"/>
            <a:ext cx="11887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行数 [行/人]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3941063" y="9555480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IPA分析  </a:t>
            </a:r>
            <a:r>
              <a:rPr sz="550" b="0">
                <a:solidFill>
                  <a:srgbClr val="1F3A2E"/>
                </a:solidFill>
                <a:latin typeface="Segoe UI"/>
                <a:ea typeface="メイリオ"/>
              </a:rPr>
              <a:t>https://www.ipa.go.jp/digital/software-survey/metrics/hjuojm000000c6it-att/000102171.pdf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941063" y="9875520"/>
            <a:ext cx="32552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品質・複雑度・業務特性・言語差分は考慮されない単純比較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941063" y="10058400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941063" y="10058400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941063" y="10232136"/>
            <a:ext cx="2604211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032503" y="10094976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改良開発上位25%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916167" y="10094976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800 行/月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941063" y="10351008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941063" y="10351008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941063" y="10524744"/>
            <a:ext cx="3255263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032503" y="10387584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新規開発上位25%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916167" y="10387584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84048" y="676656"/>
            <a:ext cx="6858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2026年度Q1 (4-6月)  /  報告日: 2026-07-01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274320" y="4480560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320040" y="4480560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消費率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77240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77.3%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2404872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82.7%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032504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5660136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53.3%</a:t>
            </a:r>
          </a:p>
        </p:txBody>
      </p:sp>
      <p:sp>
        <p:nvSpPr>
          <p:cNvPr id="322" name="Oval 321"/>
          <p:cNvSpPr/>
          <p:nvPr/>
        </p:nvSpPr>
        <p:spPr>
          <a:xfrm>
            <a:off x="4510604" y="8415528"/>
            <a:ext cx="140208" cy="14020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3412889" y="8278368"/>
            <a:ext cx="158496" cy="15849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3001844" y="8622792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4713078" y="8208264"/>
            <a:ext cx="170687" cy="1706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118795" y="8098535"/>
            <a:ext cx="134112" cy="13411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1701654" y="7988808"/>
            <a:ext cx="97536" cy="9753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342605" y="7912608"/>
            <a:ext cx="121920" cy="12192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747554" y="8458200"/>
            <a:ext cx="182880" cy="18288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486988" y="8759952"/>
            <a:ext cx="91440" cy="9144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263178" y="8689848"/>
            <a:ext cx="103632" cy="10363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910225" y="8363712"/>
            <a:ext cx="115824" cy="11582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3636699" y="8476488"/>
            <a:ext cx="146304" cy="14630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5133267" y="8065008"/>
            <a:ext cx="201168" cy="20116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4280916" y="8318754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4408932" y="8282178"/>
            <a:ext cx="5943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384048" y="512064"/>
            <a:ext cx="5760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認証基盤プロジェクト</a:t>
            </a:r>
          </a:p>
        </p:txBody>
      </p:sp>
      <p:pic>
        <p:nvPicPr>
          <p:cNvPr id="338" name="Picture 337" descr="v13r2_tr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339" name="TextBox 338"/>
          <p:cNvSpPr txBox="1"/>
          <p:nvPr/>
        </p:nvSpPr>
        <p:spPr>
          <a:xfrm>
            <a:off x="914400" y="8878824"/>
            <a:ext cx="3657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200400" y="8878824"/>
            <a:ext cx="3657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1000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5486400" y="8878824"/>
            <a:ext cx="3657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2000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822960" y="881481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0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22960" y="833475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60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22960" y="785469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120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