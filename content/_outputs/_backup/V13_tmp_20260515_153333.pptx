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54864" cy="457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C785C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7373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0116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  <a:ea typeface="メイリオ"/>
              </a:rPr>
              <a:t>V13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859536"/>
            <a:ext cx="7013448" cy="0"/>
          </a:xfrm>
          <a:prstGeom prst="line">
            <a:avLst/>
          </a:prstGeom>
          <a:ln w="12700">
            <a:solidFill>
              <a:srgbClr val="E8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F5F4EE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7A845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過去2ヶ月でコスト 1.07倍 vs 採用行数 1.13倍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F5F4EE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A8503D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Q1進捗 53% (5月末 / 実績 1,200 / 計画 2,250 [千円])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F5F4EE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A8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A8503D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前月までの累積 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6月までの予測コスト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1,950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Segoe UI"/>
                <a:ea typeface="メイリオ"/>
              </a:rPr>
              <a:t>外注費用 1.2人月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4872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32504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0136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Q1合計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91919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04872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91919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32504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91919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0136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F5F4EE"/>
          </a:solidFill>
          <a:ln w="381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実績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04872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32504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0136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A8450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5月の実績 (前月)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Segoe UI"/>
                <a:ea typeface="メイリオ"/>
              </a:rPr>
              <a:t>↓ 以下は 2026 年 5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221589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5月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7A8450"/>
                </a:solidFill>
                <a:latin typeface="Segoe UI"/>
                <a:ea typeface="メイリオ"/>
              </a:rPr>
              <a:t>+6.9%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vs 4月 580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70048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0048" y="5120640"/>
            <a:ext cx="221589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ユーザー数 (MAU)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10名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0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7A845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vs 4月 8名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5776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65776" y="5120640"/>
            <a:ext cx="221589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38928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5月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62.0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38928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02A2A"/>
                </a:solidFill>
                <a:latin typeface="Segoe UI"/>
                <a:ea typeface="メイリオ"/>
              </a:rPr>
              <a:t>-14.5%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928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vs 4月 72.5 [千円]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E8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E8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502920" y="7680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コスト
[千円/人]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▼ 高コスト × 低生産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高コスト × 高生産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▲ 低コスト × 低生産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低コスト × 高生産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191919"/>
                </a:solidFill>
                <a:latin typeface="Segoe UI"/>
                <a:ea typeface="メイリオ"/>
              </a:rPr>
              <a:t>バブル径 = MAU (アクティブユーザー数)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20072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10058400"/>
            <a:ext cx="3255263" cy="0"/>
          </a:xfrm>
          <a:prstGeom prst="line">
            <a:avLst/>
          </a:prstGeom>
          <a:ln w="63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10085832"/>
            <a:ext cx="325526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250424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メイリオ"/>
              </a:rPr>
              <a:t>約 46,300 行 / 人月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6263640"/>
            <a:ext cx="227685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91919"/>
                </a:solidFill>
                <a:latin typeface="Segoe UI"/>
                <a:ea typeface="メイリオ"/>
              </a:rPr>
              <a:t>5月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537960"/>
            <a:ext cx="164592" cy="16459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702552"/>
            <a:ext cx="164592" cy="164592"/>
          </a:xfrm>
          <a:prstGeom prst="ellipse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7031736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7196328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6263640"/>
            <a:ext cx="227685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91919"/>
                </a:solidFill>
                <a:latin typeface="Segoe UI"/>
                <a:ea typeface="メイリオ"/>
              </a:rPr>
              <a:t>5月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537960"/>
            <a:ext cx="164592" cy="16459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702552"/>
            <a:ext cx="164592" cy="164592"/>
          </a:xfrm>
          <a:prstGeom prst="ellipse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7031736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7196328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6263640"/>
            <a:ext cx="227685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91919"/>
                </a:solidFill>
                <a:latin typeface="Segoe UI"/>
                <a:ea typeface="メイリオ"/>
              </a:rPr>
              <a:t>5月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537960"/>
            <a:ext cx="164592" cy="16459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702552"/>
            <a:ext cx="164592" cy="164592"/>
          </a:xfrm>
          <a:prstGeom prst="ellipse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7031736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7196328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200400" y="7406640"/>
            <a:ext cx="4069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897880" y="8869680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行数 [行/人]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【参考】 IPA分析  </a:t>
            </a:r>
            <a:r>
              <a:rPr sz="550" b="1">
                <a:solidFill>
                  <a:srgbClr val="191919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84048" y="676656"/>
            <a:ext cx="6858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2026年度Q1 (4-6月)  /  報告日: 2026-07-01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74320" y="4480560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20040" y="4480560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消費率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77240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77.3%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404872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82.7%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032504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660136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A8450"/>
                </a:solidFill>
                <a:latin typeface="Segoe UI"/>
                <a:ea typeface="メイリオ"/>
              </a:rPr>
              <a:t>53.3%</a:t>
            </a:r>
          </a:p>
        </p:txBody>
      </p:sp>
      <p:sp>
        <p:nvSpPr>
          <p:cNvPr id="322" name="Oval 321"/>
          <p:cNvSpPr/>
          <p:nvPr/>
        </p:nvSpPr>
        <p:spPr>
          <a:xfrm>
            <a:off x="4510604" y="8415528"/>
            <a:ext cx="140208" cy="140208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12889" y="8278368"/>
            <a:ext cx="158496" cy="158496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001844" y="8622792"/>
            <a:ext cx="109728" cy="109728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713078" y="8208264"/>
            <a:ext cx="170687" cy="170687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118795" y="8098535"/>
            <a:ext cx="134112" cy="134112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701654" y="7988808"/>
            <a:ext cx="97536" cy="97536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342605" y="7912608"/>
            <a:ext cx="121920" cy="121920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747554" y="8458200"/>
            <a:ext cx="182880" cy="182880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486988" y="8759952"/>
            <a:ext cx="91440" cy="91440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263178" y="8689848"/>
            <a:ext cx="103632" cy="103632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910225" y="8363712"/>
            <a:ext cx="115824" cy="115824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3636699" y="8476488"/>
            <a:ext cx="146304" cy="146304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133267" y="8065008"/>
            <a:ext cx="201168" cy="201168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280916" y="8318754"/>
            <a:ext cx="109728" cy="109728"/>
          </a:xfrm>
          <a:prstGeom prst="ellipse">
            <a:avLst/>
          </a:prstGeom>
          <a:solidFill>
            <a:srgbClr val="CC785C"/>
          </a:solidFill>
          <a:ln>
            <a:solidFill>
              <a:srgbClr val="A8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408932" y="8282178"/>
            <a:ext cx="5943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A8503D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84048" y="512064"/>
            <a:ext cx="5760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Segoe UI"/>
                <a:ea typeface="メイリオ"/>
              </a:rPr>
              <a:t>認証基盤プロジェクト</a:t>
            </a:r>
          </a:p>
        </p:txBody>
      </p:sp>
      <p:pic>
        <p:nvPicPr>
          <p:cNvPr id="338" name="Picture 337" descr="v13r2_tr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39" name="TextBox 338"/>
          <p:cNvSpPr txBox="1"/>
          <p:nvPr/>
        </p:nvSpPr>
        <p:spPr>
          <a:xfrm>
            <a:off x="914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200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1000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486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2000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22960" y="881481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22960" y="833475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60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22960" y="785469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