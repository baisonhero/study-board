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2088" cy="1068933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V11 (rev 3) — A4 portrait, single page. Final layout with breathing.</a:t>
            </a:r>
          </a:p>
          <a:p>
            <a:r>
              <a:t>8 sections top→bottom:</a:t>
            </a:r>
          </a:p>
          <a:p>
            <a:r>
              <a:t>  1. ヘッダ</a:t>
            </a:r>
          </a:p>
          <a:p>
            <a:r>
              <a:t>  2. ジャッジ (60%) + 累積実績/年度末予測 split カード (40%)</a:t>
            </a:r>
          </a:p>
          <a:p>
            <a:r>
              <a:t>  3. 月次推移チャート (単月)</a:t>
            </a:r>
          </a:p>
          <a:p>
            <a:r>
              <a:t>  4. 月別実績/計画 表 (横幅フル)</a:t>
            </a:r>
          </a:p>
          <a:p>
            <a:r>
              <a:t>  5. 前月(6月) KPI 4タイル</a:t>
            </a:r>
          </a:p>
          <a:p>
            <a:r>
              <a:t>  6. コストTOP5 (40%) + 生成行TOP3 (30%) + 効率TOP3 (30%)</a:t>
            </a:r>
          </a:p>
          <a:p>
            <a:r>
              <a:t>  7. 14チーム ポジショニング (V10 の2色配色, ラベル無し)</a:t>
            </a:r>
          </a:p>
          <a:p>
            <a:r>
              <a:t>  8. 結論バー</a:t>
            </a:r>
          </a:p>
          <a:p/>
          <a:p>
            <a:r>
              <a:t>Compared to V11 rev2:</a:t>
            </a:r>
          </a:p>
          <a:p>
            <a:r>
              <a:t>  - CHANGED: 年度末予測カードを 上下並び → 左右(50/50)分割</a:t>
            </a:r>
          </a:p>
          <a:p>
            <a:r>
              <a:t>    LEFT = 累積実績 1,890 / RIGHT = 年度末予測 9,500</a:t>
            </a:r>
          </a:p>
          <a:p>
            <a:r>
              <a:t>    Amber 縦罫線で 実績/予測 を視覚分離.</a:t>
            </a:r>
          </a:p>
          <a:p>
            <a:r>
              <a:t>  - REMOVED: IPA 一次ソース ベンチマークセクション (rev2 で追加した⑧).</a:t>
            </a:r>
          </a:p>
          <a:p>
            <a:r>
              <a:t>  - INCREASED PADDING: セクション間 0.20-0.25" インチ余白に拡大.</a:t>
            </a:r>
          </a:p>
          <a:p>
            <a:r>
              <a:t>    Chart / TOP / Team-Map をやや拡大して読みやすさ向上.</a:t>
            </a:r>
          </a:p>
          <a:p>
            <a:r>
              <a:t>  - CONCLUSION BAR (V10 そのまま, 文言維持) at page bottom.</a:t>
            </a:r>
          </a:p>
          <a:p/>
          <a:p>
            <a:r>
              <a:t>Mock-data: TOP1-3 cost preserved 1:1 from V7 (130/108/92). 名前は</a:t>
            </a:r>
          </a:p>
          <a:p>
            <a:r>
              <a:t>ユーザー指定 (山田/鈴木/佐藤). TOP4 田中 78 / TOP5 高橋 64 はモック.</a:t>
            </a:r>
          </a:p>
          <a:p>
            <a:r>
              <a:t>On-slide footnote in cost TOP5 panel explicitly disclosed.</a:t>
            </a:r>
          </a:p>
          <a:p>
            <a:r>
              <a:t>Forecast monthly 770 [千円] · 22K行 から 年度末 9,500 予測の旨は</a:t>
            </a:r>
          </a:p>
          <a:p>
            <a:r>
              <a:t>チャート上部 caption に明記.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274320"/>
            <a:ext cx="54864" cy="365760"/>
          </a:xfrm>
          <a:prstGeom prst="rect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82880"/>
            <a:ext cx="5760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F3A2E"/>
                </a:solidFill>
                <a:latin typeface="Segoe UI"/>
                <a:ea typeface="メイリオ"/>
              </a:rPr>
              <a:t>Claude Code 月次利用量レポート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63640" y="219456"/>
            <a:ext cx="1024128" cy="292608"/>
          </a:xfrm>
          <a:prstGeom prst="roundRect">
            <a:avLst>
              <a:gd name="adj" fmla="val 30000"/>
            </a:avLst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63640" y="246888"/>
            <a:ext cx="102412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4B942"/>
                </a:solidFill>
                <a:latin typeface="Segoe UI"/>
                <a:ea typeface="メイリオ"/>
              </a:rPr>
              <a:t>V11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566928"/>
            <a:ext cx="6858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Segoe UI"/>
                <a:ea typeface="メイリオ"/>
              </a:rPr>
              <a:t>2026年度Q1 累積  /  報告日: 2026-07-01  /  対象期間: 2026/04/01 - 06/30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74320" y="777240"/>
            <a:ext cx="7013448" cy="0"/>
          </a:xfrm>
          <a:prstGeom prst="line">
            <a:avLst/>
          </a:prstGeom>
          <a:ln w="12700">
            <a:solidFill>
              <a:srgbClr val="D7DC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274320" y="1005840"/>
            <a:ext cx="4160520" cy="292608"/>
          </a:xfrm>
          <a:prstGeom prst="rect">
            <a:avLst/>
          </a:prstGeom>
          <a:solidFill>
            <a:srgbClr val="E8EFE3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005840"/>
            <a:ext cx="45720" cy="292608"/>
          </a:xfrm>
          <a:prstGeom prst="rect">
            <a:avLst/>
          </a:prstGeom>
          <a:solidFill>
            <a:srgbClr val="2E6F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051560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2E6F40"/>
                </a:solidFill>
                <a:latin typeface="Segoe UI"/>
                <a:ea typeface="メイリオ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" y="1033272"/>
            <a:ext cx="37033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効率性は改善傾向 (Q1累積で継続観測)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1161288"/>
            <a:ext cx="370332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222824"/>
                </a:solidFill>
                <a:latin typeface="Segoe UI"/>
                <a:ea typeface="メイリオ"/>
              </a:rPr>
              <a:t>過去3ヶ月でコスト 1.19倍 vs 採用行数 1.33倍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335024"/>
            <a:ext cx="4160520" cy="292608"/>
          </a:xfrm>
          <a:prstGeom prst="rect">
            <a:avLst/>
          </a:prstGeom>
          <a:solidFill>
            <a:srgbClr val="E8EFE3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1335024"/>
            <a:ext cx="45720" cy="292608"/>
          </a:xfrm>
          <a:prstGeom prst="rect">
            <a:avLst/>
          </a:prstGeom>
          <a:solidFill>
            <a:srgbClr val="C88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1380744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C88E1F"/>
                </a:solidFill>
                <a:latin typeface="Segoe UI"/>
                <a:ea typeface="メイリオ"/>
              </a:rPr>
              <a:t>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1362456"/>
            <a:ext cx="37033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来期の投資規模: 外注費用 5.4人月相当 (累積+残月計画ベース)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" y="1490472"/>
            <a:ext cx="370332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222824"/>
                </a:solidFill>
                <a:latin typeface="Segoe UI"/>
                <a:ea typeface="メイリオ"/>
              </a:rPr>
              <a:t>外注増員 vs Claude活用拡大、議論事項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1664208"/>
            <a:ext cx="4160520" cy="292608"/>
          </a:xfrm>
          <a:prstGeom prst="rect">
            <a:avLst/>
          </a:prstGeom>
          <a:solidFill>
            <a:srgbClr val="E8EFE3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1664208"/>
            <a:ext cx="45720" cy="29260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1709928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C0392B"/>
                </a:solidFill>
                <a:latin typeface="Segoe UI"/>
                <a:ea typeface="メイリオ"/>
              </a:rPr>
              <a:t>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" y="1691640"/>
            <a:ext cx="37033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即対応: 認証基盤PJのモデル選定見直し (6月単月で兆候)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" y="1819656"/>
            <a:ext cx="370332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222824"/>
                </a:solidFill>
                <a:latin typeface="Segoe UI"/>
                <a:ea typeface="メイリオ"/>
              </a:rPr>
              <a:t>局所的な過剰利用の兆候 (詳細は別ダッシュボード)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0" y="914400"/>
            <a:ext cx="1357884" cy="1097280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929883" y="914400"/>
            <a:ext cx="1357884" cy="1097280"/>
          </a:xfrm>
          <a:prstGeom prst="rect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17720" y="1005840"/>
            <a:ext cx="1266443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B5C9A8"/>
                </a:solidFill>
                <a:latin typeface="Segoe UI"/>
                <a:ea typeface="メイリオ"/>
              </a:rPr>
              <a:t>前月までの累積コスト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7720" y="1161288"/>
            <a:ext cx="1266443" cy="1280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B5C9A8"/>
                </a:solidFill>
                <a:latin typeface="Segoe UI"/>
                <a:ea typeface="メイリオ"/>
              </a:rPr>
              <a:t>(実績)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1335024"/>
            <a:ext cx="1357884" cy="4389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000" b="1">
                <a:solidFill>
                  <a:srgbClr val="F4B942"/>
                </a:solidFill>
                <a:latin typeface="Segoe UI"/>
                <a:ea typeface="メイリオ"/>
              </a:rPr>
              <a:t>1,890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1792224"/>
            <a:ext cx="1357884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B5C9A8"/>
                </a:solidFill>
                <a:latin typeface="Segoe UI"/>
                <a:ea typeface="メイリオ"/>
              </a:rPr>
              <a:t>[千円]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75603" y="987552"/>
            <a:ext cx="1266443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年度末着地予測 (予測)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29883" y="1152144"/>
            <a:ext cx="1357884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1F3A2E"/>
                </a:solidFill>
                <a:latin typeface="Segoe UI"/>
                <a:ea typeface="メイリオ"/>
              </a:rPr>
              <a:t>8,640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29883" y="1481328"/>
            <a:ext cx="1357884" cy="1280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50" b="0">
                <a:solidFill>
                  <a:srgbClr val="1F3A2E"/>
                </a:solidFill>
                <a:latin typeface="Segoe UI"/>
                <a:ea typeface="メイリオ"/>
              </a:rPr>
              <a:t>[千円]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75603" y="1627632"/>
            <a:ext cx="1266443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1F3A2E"/>
                </a:solidFill>
                <a:latin typeface="Segoe UI"/>
                <a:ea typeface="メイリオ"/>
              </a:rPr>
              <a:t>外注費用 5.4人月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75603" y="1801368"/>
            <a:ext cx="1266443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1F3A2E"/>
                </a:solidFill>
                <a:latin typeface="Segoe UI"/>
                <a:ea typeface="メイリオ"/>
              </a:rPr>
              <a:t>(1,600 千円/月 換算)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" y="2240280"/>
            <a:ext cx="4572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3A2E"/>
                </a:solidFill>
                <a:latin typeface="Segoe UI"/>
                <a:ea typeface="メイリオ"/>
              </a:rPr>
              <a:t>月次推移 (単月) — コスト × 採用コード行数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74720" y="2258568"/>
            <a:ext cx="3813048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6B6B6B"/>
                </a:solidFill>
                <a:latin typeface="Segoe UI"/>
                <a:ea typeface="メイリオ"/>
              </a:rPr>
              <a:t>※ 7月以降は計画値 (月 750 [千円])  /  単月行数は実績のみ表示</a:t>
            </a:r>
          </a:p>
        </p:txBody>
      </p:sp>
      <p:pic>
        <p:nvPicPr>
          <p:cNvPr id="36" name="Picture 35" descr="v11r2_monthly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423160"/>
            <a:ext cx="7013448" cy="123444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74320" y="3840480"/>
            <a:ext cx="4572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3A2E"/>
                </a:solidFill>
                <a:latin typeface="Segoe UI"/>
                <a:ea typeface="メイリオ"/>
              </a:rPr>
              <a:t>月別実績 / 計画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92040" y="3858768"/>
            <a:ext cx="23957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単位: [千円]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4041648"/>
            <a:ext cx="7013448" cy="146304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8680" y="4041648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  <a:ea typeface="メイリオ"/>
              </a:rPr>
              <a:t>4月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50264" y="4041648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  <a:ea typeface="メイリオ"/>
              </a:rPr>
              <a:t>5月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831847" y="4041648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  <a:ea typeface="メイリオ"/>
              </a:rPr>
              <a:t>6月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13432" y="4041648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  <a:ea typeface="メイリオ"/>
              </a:rPr>
              <a:t>7月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795016" y="4041648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  <a:ea typeface="メイリオ"/>
              </a:rPr>
              <a:t>8月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76599" y="4041648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  <a:ea typeface="メイリオ"/>
              </a:rPr>
              <a:t>9月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758183" y="4041648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  <a:ea typeface="メイリオ"/>
              </a:rPr>
              <a:t>10月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239768" y="4041648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  <a:ea typeface="メイリオ"/>
              </a:rPr>
              <a:t>11月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721352" y="4041648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  <a:ea typeface="メイリオ"/>
              </a:rPr>
              <a:t>12月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202936" y="4041648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  <a:ea typeface="メイリオ"/>
              </a:rPr>
              <a:t>1月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84519" y="4041648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  <a:ea typeface="メイリオ"/>
              </a:rPr>
              <a:t>2月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66104" y="4041648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  <a:ea typeface="メイリオ"/>
              </a:rPr>
              <a:t>3月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647688" y="4041648"/>
            <a:ext cx="64008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  <a:ea typeface="メイリオ"/>
              </a:rPr>
              <a:t>年間合計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74320" y="4187952"/>
            <a:ext cx="7013448" cy="146304"/>
          </a:xfrm>
          <a:prstGeom prst="rect">
            <a:avLst/>
          </a:prstGeom>
          <a:solidFill>
            <a:srgbClr val="FFFFFF"/>
          </a:solidFill>
          <a:ln w="381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20040" y="4187952"/>
            <a:ext cx="50292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222824"/>
                </a:solidFill>
                <a:latin typeface="Segoe UI"/>
                <a:ea typeface="メイリオ"/>
              </a:rPr>
              <a:t>当初計画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68680" y="4187952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22824"/>
                </a:solidFill>
                <a:latin typeface="Segoe UI"/>
                <a:ea typeface="メイリオ"/>
              </a:rPr>
              <a:t>750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350264" y="4187952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22824"/>
                </a:solidFill>
                <a:latin typeface="Segoe UI"/>
                <a:ea typeface="メイリオ"/>
              </a:rPr>
              <a:t>750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831847" y="4187952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22824"/>
                </a:solidFill>
                <a:latin typeface="Segoe UI"/>
                <a:ea typeface="メイリオ"/>
              </a:rPr>
              <a:t>750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313432" y="4187952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22824"/>
                </a:solidFill>
                <a:latin typeface="Segoe UI"/>
                <a:ea typeface="メイリオ"/>
              </a:rPr>
              <a:t>750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795016" y="4187952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22824"/>
                </a:solidFill>
                <a:latin typeface="Segoe UI"/>
                <a:ea typeface="メイリオ"/>
              </a:rPr>
              <a:t>750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276599" y="4187952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22824"/>
                </a:solidFill>
                <a:latin typeface="Segoe UI"/>
                <a:ea typeface="メイリオ"/>
              </a:rPr>
              <a:t>750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758183" y="4187952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22824"/>
                </a:solidFill>
                <a:latin typeface="Segoe UI"/>
                <a:ea typeface="メイリオ"/>
              </a:rPr>
              <a:t>750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239768" y="4187952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22824"/>
                </a:solidFill>
                <a:latin typeface="Segoe UI"/>
                <a:ea typeface="メイリオ"/>
              </a:rPr>
              <a:t>750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721352" y="4187952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22824"/>
                </a:solidFill>
                <a:latin typeface="Segoe UI"/>
                <a:ea typeface="メイリオ"/>
              </a:rPr>
              <a:t>750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202936" y="4187952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22824"/>
                </a:solidFill>
                <a:latin typeface="Segoe UI"/>
                <a:ea typeface="メイリオ"/>
              </a:rPr>
              <a:t>750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684519" y="4187952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22824"/>
                </a:solidFill>
                <a:latin typeface="Segoe UI"/>
                <a:ea typeface="メイリオ"/>
              </a:rPr>
              <a:t>750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166104" y="4187952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22824"/>
                </a:solidFill>
                <a:latin typeface="Segoe UI"/>
                <a:ea typeface="メイリオ"/>
              </a:rPr>
              <a:t>750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647688" y="4187952"/>
            <a:ext cx="64008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F3A2E"/>
                </a:solidFill>
                <a:latin typeface="Segoe UI"/>
                <a:ea typeface="メイリオ"/>
              </a:rPr>
              <a:t>9,000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74320" y="4334256"/>
            <a:ext cx="7013448" cy="146304"/>
          </a:xfrm>
          <a:prstGeom prst="rect">
            <a:avLst/>
          </a:prstGeom>
          <a:solidFill>
            <a:srgbClr val="E8EFE3"/>
          </a:solidFill>
          <a:ln w="381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20040" y="4334256"/>
            <a:ext cx="50292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222824"/>
                </a:solidFill>
                <a:latin typeface="Segoe UI"/>
                <a:ea typeface="メイリオ"/>
              </a:rPr>
              <a:t>実績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2313432" y="4041648"/>
            <a:ext cx="0" cy="438912"/>
          </a:xfrm>
          <a:prstGeom prst="line">
            <a:avLst/>
          </a:prstGeom>
          <a:ln w="11430">
            <a:solidFill>
              <a:srgbClr val="F4B9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868680" y="4334256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2E6F40"/>
                </a:solidFill>
                <a:latin typeface="Segoe UI"/>
                <a:ea typeface="メイリオ"/>
              </a:rPr>
              <a:t>580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350264" y="4334256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2E6F40"/>
                </a:solidFill>
                <a:latin typeface="Segoe UI"/>
                <a:ea typeface="メイリオ"/>
              </a:rPr>
              <a:t>620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831847" y="4334256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2E6F40"/>
                </a:solidFill>
                <a:latin typeface="Segoe UI"/>
                <a:ea typeface="メイリオ"/>
              </a:rPr>
              <a:t>690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313432" y="4334256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6B6B6B"/>
                </a:solidFill>
                <a:latin typeface="Segoe UI"/>
                <a:ea typeface="メイリオ"/>
              </a:rPr>
              <a:t>-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795016" y="4334256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6B6B6B"/>
                </a:solidFill>
                <a:latin typeface="Segoe UI"/>
                <a:ea typeface="メイリオ"/>
              </a:rPr>
              <a:t>-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276599" y="4334256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6B6B6B"/>
                </a:solidFill>
                <a:latin typeface="Segoe UI"/>
                <a:ea typeface="メイリオ"/>
              </a:rPr>
              <a:t>-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758183" y="4334256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6B6B6B"/>
                </a:solidFill>
                <a:latin typeface="Segoe UI"/>
                <a:ea typeface="メイリオ"/>
              </a:rPr>
              <a:t>-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239768" y="4334256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6B6B6B"/>
                </a:solidFill>
                <a:latin typeface="Segoe UI"/>
                <a:ea typeface="メイリオ"/>
              </a:rPr>
              <a:t>-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721352" y="4334256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6B6B6B"/>
                </a:solidFill>
                <a:latin typeface="Segoe UI"/>
                <a:ea typeface="メイリオ"/>
              </a:rPr>
              <a:t>-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202936" y="4334256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6B6B6B"/>
                </a:solidFill>
                <a:latin typeface="Segoe UI"/>
                <a:ea typeface="メイリオ"/>
              </a:rPr>
              <a:t>-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684519" y="4334256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6B6B6B"/>
                </a:solidFill>
                <a:latin typeface="Segoe UI"/>
                <a:ea typeface="メイリオ"/>
              </a:rPr>
              <a:t>-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166104" y="4334256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6B6B6B"/>
                </a:solidFill>
                <a:latin typeface="Segoe UI"/>
                <a:ea typeface="メイリオ"/>
              </a:rPr>
              <a:t>-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647688" y="4334256"/>
            <a:ext cx="64008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C88E1F"/>
                </a:solidFill>
                <a:latin typeface="Segoe UI"/>
                <a:ea typeface="メイリオ"/>
              </a:rPr>
              <a:t>1,890*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74320" y="4498848"/>
            <a:ext cx="701344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B6B6B"/>
                </a:solidFill>
                <a:latin typeface="Segoe UI"/>
                <a:ea typeface="メイリオ"/>
              </a:rPr>
              <a:t>* 6月末までの累積実績  /  黄色縦線 = 実績→予測の境界  /  実績 &lt; 計画 = 緑、実績 &gt; 計画 = 橙</a:t>
            </a:r>
          </a:p>
        </p:txBody>
      </p:sp>
      <p:sp>
        <p:nvSpPr>
          <p:cNvPr id="85" name="Rectangle 84"/>
          <p:cNvSpPr/>
          <p:nvPr/>
        </p:nvSpPr>
        <p:spPr>
          <a:xfrm>
            <a:off x="0" y="4663440"/>
            <a:ext cx="7562088" cy="320040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0" y="4663440"/>
            <a:ext cx="54864" cy="320040"/>
          </a:xfrm>
          <a:prstGeom prst="rect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201168" y="4690872"/>
            <a:ext cx="2743200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egoe UI"/>
                <a:ea typeface="メイリオ"/>
              </a:rPr>
              <a:t>6月の実績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017520" y="4690872"/>
            <a:ext cx="4389120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B5C9A8"/>
                </a:solidFill>
                <a:latin typeface="Segoe UI"/>
                <a:ea typeface="メイリオ"/>
              </a:rPr>
              <a:t>↓ 以下は 2026 年 6 月 単月のスナップショット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74320" y="5120640"/>
            <a:ext cx="164592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274320" y="5120640"/>
            <a:ext cx="1645920" cy="36576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347472" y="5166359"/>
            <a:ext cx="149961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6月 コスト [千円]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47472" y="5285231"/>
            <a:ext cx="1499616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F3A2E"/>
                </a:solidFill>
                <a:latin typeface="Segoe UI"/>
                <a:ea typeface="メイリオ"/>
              </a:rPr>
              <a:t>690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47472" y="5541264"/>
            <a:ext cx="109728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C88E1F"/>
                </a:solidFill>
                <a:latin typeface="Segoe UI"/>
                <a:ea typeface="メイリオ"/>
              </a:rPr>
              <a:t>+11.3%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47472" y="5632704"/>
            <a:ext cx="1499616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6B6B6B"/>
                </a:solidFill>
                <a:latin typeface="Segoe UI"/>
                <a:ea typeface="メイリオ"/>
              </a:rPr>
              <a:t>vs 5月 620 [千円]</a:t>
            </a:r>
          </a:p>
        </p:txBody>
      </p:sp>
      <p:sp>
        <p:nvSpPr>
          <p:cNvPr id="95" name="Rectangle 94"/>
          <p:cNvSpPr/>
          <p:nvPr/>
        </p:nvSpPr>
        <p:spPr>
          <a:xfrm>
            <a:off x="2066543" y="5120640"/>
            <a:ext cx="164592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2066543" y="5120640"/>
            <a:ext cx="1645920" cy="36576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2139696" y="5166359"/>
            <a:ext cx="149961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6月 アクティブユーザー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139696" y="5285231"/>
            <a:ext cx="1499616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F3A2E"/>
                </a:solidFill>
                <a:latin typeface="Segoe UI"/>
                <a:ea typeface="メイリオ"/>
              </a:rPr>
              <a:t>12名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139696" y="5541264"/>
            <a:ext cx="109728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2E6F40"/>
                </a:solidFill>
                <a:latin typeface="Segoe UI"/>
                <a:ea typeface="メイリオ"/>
              </a:rPr>
              <a:t>+2名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139696" y="5632704"/>
            <a:ext cx="1499616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6B6B6B"/>
                </a:solidFill>
                <a:latin typeface="Segoe UI"/>
                <a:ea typeface="メイリオ"/>
              </a:rPr>
              <a:t>vs 5月 10名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3858768" y="5120640"/>
            <a:ext cx="164592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3858768" y="5120640"/>
            <a:ext cx="1645920" cy="36576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3931920" y="5166359"/>
            <a:ext cx="149961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6月 1人あたり月額 [千円]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3931920" y="5285231"/>
            <a:ext cx="1499616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F3A2E"/>
                </a:solidFill>
                <a:latin typeface="Segoe UI"/>
                <a:ea typeface="メイリオ"/>
              </a:rPr>
              <a:t>57.5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3931920" y="5541264"/>
            <a:ext cx="109728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2E6F40"/>
                </a:solidFill>
                <a:latin typeface="Segoe UI"/>
                <a:ea typeface="メイリオ"/>
              </a:rPr>
              <a:t>−4.5%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3931920" y="5632704"/>
            <a:ext cx="1499616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6B6B6B"/>
                </a:solidFill>
                <a:latin typeface="Segoe UI"/>
                <a:ea typeface="メイリオ"/>
              </a:rPr>
              <a:t>vs 5月 62.0 [千円]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5650992" y="5120640"/>
            <a:ext cx="164592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5650992" y="5120640"/>
            <a:ext cx="1645920" cy="36576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5724144" y="5166359"/>
            <a:ext cx="149961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6月 1人あたり採用行数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5724144" y="5285231"/>
            <a:ext cx="1499616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F3A2E"/>
                </a:solidFill>
                <a:latin typeface="Segoe UI"/>
                <a:ea typeface="メイリオ"/>
              </a:rPr>
              <a:t>1,667行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5724144" y="5541264"/>
            <a:ext cx="109728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2E6F40"/>
                </a:solidFill>
                <a:latin typeface="Segoe UI"/>
                <a:ea typeface="メイリオ"/>
              </a:rPr>
              <a:t>+5%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5724144" y="5632704"/>
            <a:ext cx="1499616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6B6B6B"/>
                </a:solidFill>
                <a:latin typeface="Segoe UI"/>
                <a:ea typeface="メイリオ"/>
              </a:rPr>
              <a:t>vs 5月 1,587行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274320" y="6035040"/>
            <a:ext cx="2304287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F3A2E"/>
                </a:solidFill>
                <a:latin typeface="Segoe UI"/>
                <a:ea typeface="メイリオ"/>
              </a:rPr>
              <a:t>メンバー 6月コスト TOP5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2578607" y="6053327"/>
            <a:ext cx="457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[千円]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274320" y="6217920"/>
            <a:ext cx="2807208" cy="1088136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274320" y="6217920"/>
            <a:ext cx="2807208" cy="36576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347472" y="6295644"/>
            <a:ext cx="146304" cy="146304"/>
          </a:xfrm>
          <a:prstGeom prst="ellipse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347472" y="6295644"/>
            <a:ext cx="146304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1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530352" y="6291072"/>
            <a:ext cx="91440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222824"/>
                </a:solidFill>
                <a:latin typeface="Segoe UI"/>
                <a:ea typeface="メイリオ"/>
              </a:rPr>
              <a:t>山田 太郎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1481328" y="6327648"/>
            <a:ext cx="1078991" cy="73152"/>
          </a:xfrm>
          <a:prstGeom prst="rect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2596895" y="6291072"/>
            <a:ext cx="41148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1F3A2E"/>
                </a:solidFill>
                <a:latin typeface="Segoe UI"/>
                <a:ea typeface="メイリオ"/>
              </a:rPr>
              <a:t>130</a:t>
            </a:r>
          </a:p>
        </p:txBody>
      </p:sp>
      <p:sp>
        <p:nvSpPr>
          <p:cNvPr id="122" name="Oval 121"/>
          <p:cNvSpPr/>
          <p:nvPr/>
        </p:nvSpPr>
        <p:spPr>
          <a:xfrm>
            <a:off x="347472" y="6441948"/>
            <a:ext cx="146304" cy="146304"/>
          </a:xfrm>
          <a:prstGeom prst="ellipse">
            <a:avLst/>
          </a:prstGeom>
          <a:solidFill>
            <a:srgbClr val="B5C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347472" y="6441948"/>
            <a:ext cx="146304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2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530352" y="6437376"/>
            <a:ext cx="91440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222824"/>
                </a:solidFill>
                <a:latin typeface="Segoe UI"/>
                <a:ea typeface="メイリオ"/>
              </a:rPr>
              <a:t>鈴木 花子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1481328" y="6473952"/>
            <a:ext cx="896393" cy="73152"/>
          </a:xfrm>
          <a:prstGeom prst="rect">
            <a:avLst/>
          </a:prstGeom>
          <a:solidFill>
            <a:srgbClr val="A8B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2596895" y="6437376"/>
            <a:ext cx="41148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1F3A2E"/>
                </a:solidFill>
                <a:latin typeface="Segoe UI"/>
                <a:ea typeface="メイリオ"/>
              </a:rPr>
              <a:t>108</a:t>
            </a:r>
          </a:p>
        </p:txBody>
      </p:sp>
      <p:sp>
        <p:nvSpPr>
          <p:cNvPr id="127" name="Oval 126"/>
          <p:cNvSpPr/>
          <p:nvPr/>
        </p:nvSpPr>
        <p:spPr>
          <a:xfrm>
            <a:off x="347472" y="6588252"/>
            <a:ext cx="146304" cy="146304"/>
          </a:xfrm>
          <a:prstGeom prst="ellipse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347472" y="6588252"/>
            <a:ext cx="146304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3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530352" y="6583680"/>
            <a:ext cx="91440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222824"/>
                </a:solidFill>
                <a:latin typeface="Segoe UI"/>
                <a:ea typeface="メイリオ"/>
              </a:rPr>
              <a:t>佐藤 健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1481328" y="6620256"/>
            <a:ext cx="763594" cy="73152"/>
          </a:xfrm>
          <a:prstGeom prst="rect">
            <a:avLst/>
          </a:prstGeom>
          <a:solidFill>
            <a:srgbClr val="A8B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2596895" y="6583680"/>
            <a:ext cx="41148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1F3A2E"/>
                </a:solidFill>
                <a:latin typeface="Segoe UI"/>
                <a:ea typeface="メイリオ"/>
              </a:rPr>
              <a:t>92</a:t>
            </a:r>
          </a:p>
        </p:txBody>
      </p:sp>
      <p:sp>
        <p:nvSpPr>
          <p:cNvPr id="132" name="Oval 131"/>
          <p:cNvSpPr/>
          <p:nvPr/>
        </p:nvSpPr>
        <p:spPr>
          <a:xfrm>
            <a:off x="347472" y="6734555"/>
            <a:ext cx="146304" cy="146304"/>
          </a:xfrm>
          <a:prstGeom prst="ellipse">
            <a:avLst/>
          </a:prstGeom>
          <a:solidFill>
            <a:srgbClr val="E8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347472" y="6734555"/>
            <a:ext cx="146304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4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530352" y="6729983"/>
            <a:ext cx="91440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222824"/>
                </a:solidFill>
                <a:latin typeface="Segoe UI"/>
                <a:ea typeface="メイリオ"/>
              </a:rPr>
              <a:t>田中 美咲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1481328" y="6766559"/>
            <a:ext cx="647395" cy="73152"/>
          </a:xfrm>
          <a:prstGeom prst="rect">
            <a:avLst/>
          </a:prstGeom>
          <a:solidFill>
            <a:srgbClr val="A8B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2596895" y="6729983"/>
            <a:ext cx="41148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1F3A2E"/>
                </a:solidFill>
                <a:latin typeface="Segoe UI"/>
                <a:ea typeface="メイリオ"/>
              </a:rPr>
              <a:t>78</a:t>
            </a:r>
          </a:p>
        </p:txBody>
      </p:sp>
      <p:sp>
        <p:nvSpPr>
          <p:cNvPr id="137" name="Oval 136"/>
          <p:cNvSpPr/>
          <p:nvPr/>
        </p:nvSpPr>
        <p:spPr>
          <a:xfrm>
            <a:off x="347472" y="6880859"/>
            <a:ext cx="146304" cy="146304"/>
          </a:xfrm>
          <a:prstGeom prst="ellipse">
            <a:avLst/>
          </a:prstGeom>
          <a:solidFill>
            <a:srgbClr val="E8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347472" y="6880859"/>
            <a:ext cx="146304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5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530352" y="6876288"/>
            <a:ext cx="91440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222824"/>
                </a:solidFill>
                <a:latin typeface="Segoe UI"/>
                <a:ea typeface="メイリオ"/>
              </a:rPr>
              <a:t>高橋 翔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1481328" y="6912864"/>
            <a:ext cx="531196" cy="73152"/>
          </a:xfrm>
          <a:prstGeom prst="rect">
            <a:avLst/>
          </a:prstGeom>
          <a:solidFill>
            <a:srgbClr val="A8B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2596895" y="6876288"/>
            <a:ext cx="41148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1F3A2E"/>
                </a:solidFill>
                <a:latin typeface="Segoe UI"/>
                <a:ea typeface="メイリオ"/>
              </a:rPr>
              <a:t>64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3172968" y="6035040"/>
            <a:ext cx="201167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F3A2E"/>
                </a:solidFill>
                <a:latin typeface="Segoe UI"/>
                <a:ea typeface="メイリオ"/>
              </a:rPr>
              <a:t>6月 生成行TOP3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3172968" y="6217920"/>
            <a:ext cx="2011679" cy="1088136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3172968" y="6217920"/>
            <a:ext cx="2011679" cy="36576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3246120" y="6272783"/>
            <a:ext cx="1865375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6B6B6B"/>
                </a:solidFill>
                <a:latin typeface="Segoe UI"/>
                <a:ea typeface="メイリオ"/>
              </a:rPr>
              <a:t>最もコード生成 [行]</a:t>
            </a:r>
          </a:p>
        </p:txBody>
      </p:sp>
      <p:sp>
        <p:nvSpPr>
          <p:cNvPr id="146" name="Oval 145"/>
          <p:cNvSpPr/>
          <p:nvPr/>
        </p:nvSpPr>
        <p:spPr>
          <a:xfrm>
            <a:off x="3246120" y="6464807"/>
            <a:ext cx="146304" cy="146304"/>
          </a:xfrm>
          <a:prstGeom prst="ellipse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3246120" y="6464807"/>
            <a:ext cx="146304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F3A2E"/>
                </a:solidFill>
                <a:latin typeface="Segoe UI"/>
                <a:ea typeface="メイリオ"/>
              </a:rPr>
              <a:t>1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3429000" y="6455664"/>
            <a:ext cx="86868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222824"/>
                </a:solidFill>
                <a:latin typeface="Segoe UI"/>
                <a:ea typeface="メイリオ"/>
              </a:rPr>
              <a:t>鈴木 花子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4590288" y="6455664"/>
            <a:ext cx="50292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4,500</a:t>
            </a:r>
          </a:p>
        </p:txBody>
      </p:sp>
      <p:sp>
        <p:nvSpPr>
          <p:cNvPr id="150" name="Oval 149"/>
          <p:cNvSpPr/>
          <p:nvPr/>
        </p:nvSpPr>
        <p:spPr>
          <a:xfrm>
            <a:off x="3246120" y="6647688"/>
            <a:ext cx="146304" cy="146304"/>
          </a:xfrm>
          <a:prstGeom prst="ellipse">
            <a:avLst/>
          </a:prstGeom>
          <a:solidFill>
            <a:srgbClr val="B5C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3246120" y="6647688"/>
            <a:ext cx="146304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F3A2E"/>
                </a:solidFill>
                <a:latin typeface="Segoe UI"/>
                <a:ea typeface="メイリオ"/>
              </a:rPr>
              <a:t>2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3429000" y="6638544"/>
            <a:ext cx="86868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222824"/>
                </a:solidFill>
                <a:latin typeface="Segoe UI"/>
                <a:ea typeface="メイリオ"/>
              </a:rPr>
              <a:t>山田 太郎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4590288" y="6638544"/>
            <a:ext cx="50292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4,200</a:t>
            </a:r>
          </a:p>
        </p:txBody>
      </p:sp>
      <p:sp>
        <p:nvSpPr>
          <p:cNvPr id="154" name="Oval 153"/>
          <p:cNvSpPr/>
          <p:nvPr/>
        </p:nvSpPr>
        <p:spPr>
          <a:xfrm>
            <a:off x="3246120" y="6830568"/>
            <a:ext cx="146304" cy="146304"/>
          </a:xfrm>
          <a:prstGeom prst="ellipse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3246120" y="6830568"/>
            <a:ext cx="146304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F3A2E"/>
                </a:solidFill>
                <a:latin typeface="Segoe UI"/>
                <a:ea typeface="メイリオ"/>
              </a:rPr>
              <a:t>3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3429000" y="6821424"/>
            <a:ext cx="86868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222824"/>
                </a:solidFill>
                <a:latin typeface="Segoe UI"/>
                <a:ea typeface="メイリオ"/>
              </a:rPr>
              <a:t>佐藤 健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4590288" y="6821424"/>
            <a:ext cx="50292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2,800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5276088" y="6035040"/>
            <a:ext cx="201167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F3A2E"/>
                </a:solidFill>
                <a:latin typeface="Segoe UI"/>
                <a:ea typeface="メイリオ"/>
              </a:rPr>
              <a:t>6月 効率TOP3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5276088" y="6217920"/>
            <a:ext cx="2011679" cy="1088136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5276088" y="6217920"/>
            <a:ext cx="2011679" cy="36576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5349240" y="6272783"/>
            <a:ext cx="1865375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6B6B6B"/>
                </a:solidFill>
                <a:latin typeface="Segoe UI"/>
                <a:ea typeface="メイリオ"/>
              </a:rPr>
              <a:t>コスパ [行/千円]</a:t>
            </a:r>
          </a:p>
        </p:txBody>
      </p:sp>
      <p:sp>
        <p:nvSpPr>
          <p:cNvPr id="162" name="Oval 161"/>
          <p:cNvSpPr/>
          <p:nvPr/>
        </p:nvSpPr>
        <p:spPr>
          <a:xfrm>
            <a:off x="5349240" y="6464807"/>
            <a:ext cx="146304" cy="146304"/>
          </a:xfrm>
          <a:prstGeom prst="ellipse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5349240" y="6464807"/>
            <a:ext cx="146304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F3A2E"/>
                </a:solidFill>
                <a:latin typeface="Segoe UI"/>
                <a:ea typeface="メイリオ"/>
              </a:rPr>
              <a:t>1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5532120" y="6455664"/>
            <a:ext cx="86868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222824"/>
                </a:solidFill>
                <a:latin typeface="Segoe UI"/>
                <a:ea typeface="メイリオ"/>
              </a:rPr>
              <a:t>鈴木 花子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6693407" y="6455664"/>
            <a:ext cx="50292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41.7</a:t>
            </a:r>
          </a:p>
        </p:txBody>
      </p:sp>
      <p:sp>
        <p:nvSpPr>
          <p:cNvPr id="166" name="Oval 165"/>
          <p:cNvSpPr/>
          <p:nvPr/>
        </p:nvSpPr>
        <p:spPr>
          <a:xfrm>
            <a:off x="5349240" y="6647688"/>
            <a:ext cx="146304" cy="146304"/>
          </a:xfrm>
          <a:prstGeom prst="ellipse">
            <a:avLst/>
          </a:prstGeom>
          <a:solidFill>
            <a:srgbClr val="B5C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5349240" y="6647688"/>
            <a:ext cx="146304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F3A2E"/>
                </a:solidFill>
                <a:latin typeface="Segoe UI"/>
                <a:ea typeface="メイリオ"/>
              </a:rPr>
              <a:t>2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5532120" y="6638544"/>
            <a:ext cx="86868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222824"/>
                </a:solidFill>
                <a:latin typeface="Segoe UI"/>
                <a:ea typeface="メイリオ"/>
              </a:rPr>
              <a:t>山田 太郎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693407" y="6638544"/>
            <a:ext cx="50292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32.3</a:t>
            </a:r>
          </a:p>
        </p:txBody>
      </p:sp>
      <p:sp>
        <p:nvSpPr>
          <p:cNvPr id="170" name="Oval 169"/>
          <p:cNvSpPr/>
          <p:nvPr/>
        </p:nvSpPr>
        <p:spPr>
          <a:xfrm>
            <a:off x="5349240" y="6830568"/>
            <a:ext cx="146304" cy="146304"/>
          </a:xfrm>
          <a:prstGeom prst="ellipse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5349240" y="6830568"/>
            <a:ext cx="146304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F3A2E"/>
                </a:solidFill>
                <a:latin typeface="Segoe UI"/>
                <a:ea typeface="メイリオ"/>
              </a:rPr>
              <a:t>3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5532120" y="6821424"/>
            <a:ext cx="86868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222824"/>
                </a:solidFill>
                <a:latin typeface="Segoe UI"/>
                <a:ea typeface="メイリオ"/>
              </a:rPr>
              <a:t>佐藤 健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6693407" y="6821424"/>
            <a:ext cx="50292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30.4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274320" y="7635240"/>
            <a:ext cx="7013448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5" name="Connector 174"/>
          <p:cNvCxnSpPr/>
          <p:nvPr/>
        </p:nvCxnSpPr>
        <p:spPr>
          <a:xfrm>
            <a:off x="1097280" y="8869680"/>
            <a:ext cx="4572000" cy="0"/>
          </a:xfrm>
          <a:prstGeom prst="line">
            <a:avLst/>
          </a:prstGeom>
          <a:ln w="12700">
            <a:solidFill>
              <a:srgbClr val="1F3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>
            <a:off x="1097280" y="7909560"/>
            <a:ext cx="0" cy="960120"/>
          </a:xfrm>
          <a:prstGeom prst="line">
            <a:avLst/>
          </a:prstGeom>
          <a:ln w="12700">
            <a:solidFill>
              <a:srgbClr val="1F3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>
            <a:off x="3383280" y="7909560"/>
            <a:ext cx="0" cy="960120"/>
          </a:xfrm>
          <a:prstGeom prst="line">
            <a:avLst/>
          </a:prstGeom>
          <a:ln w="6350">
            <a:solidFill>
              <a:srgbClr val="D7DC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>
            <a:off x="1097280" y="8389620"/>
            <a:ext cx="4572000" cy="0"/>
          </a:xfrm>
          <a:prstGeom prst="line">
            <a:avLst/>
          </a:prstGeom>
          <a:ln w="6350">
            <a:solidFill>
              <a:srgbClr val="D7DC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9" name="TextBox 178"/>
          <p:cNvSpPr txBox="1"/>
          <p:nvPr/>
        </p:nvSpPr>
        <p:spPr>
          <a:xfrm>
            <a:off x="320040" y="8115300"/>
            <a:ext cx="7315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00" b="1">
                <a:solidFill>
                  <a:srgbClr val="1F3A2E"/>
                </a:solidFill>
                <a:latin typeface="Segoe UI"/>
                <a:ea typeface="メイリオ"/>
              </a:rPr>
              <a:t>↑ 効率
(行/コスト)</a:t>
            </a:r>
          </a:p>
        </p:txBody>
      </p:sp>
      <p:sp>
        <p:nvSpPr>
          <p:cNvPr id="180" name="Oval 179"/>
          <p:cNvSpPr/>
          <p:nvPr/>
        </p:nvSpPr>
        <p:spPr>
          <a:xfrm>
            <a:off x="4974336" y="7931505"/>
            <a:ext cx="109728" cy="109728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5140756" y="8049463"/>
            <a:ext cx="142646" cy="142646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4697272" y="8034375"/>
            <a:ext cx="115214" cy="115214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4522622" y="8013801"/>
            <a:ext cx="98755" cy="98755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4245559" y="8116671"/>
            <a:ext cx="104241" cy="104241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4162348" y="8192109"/>
            <a:ext cx="87782" cy="87782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3699662" y="8205825"/>
            <a:ext cx="98755" cy="98755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3457346" y="8230514"/>
            <a:ext cx="126187" cy="126187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3226003" y="8266176"/>
            <a:ext cx="131673" cy="131673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2946196" y="8270290"/>
            <a:ext cx="142646" cy="142646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2712110" y="8332012"/>
            <a:ext cx="153619" cy="153619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2475280" y="8275777"/>
            <a:ext cx="170078" cy="170078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2023567" y="8415680"/>
            <a:ext cx="159105" cy="159105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Oval 192"/>
          <p:cNvSpPr/>
          <p:nvPr/>
        </p:nvSpPr>
        <p:spPr>
          <a:xfrm>
            <a:off x="4837176" y="7902702"/>
            <a:ext cx="109728" cy="109728"/>
          </a:xfrm>
          <a:prstGeom prst="ellipse">
            <a:avLst/>
          </a:prstGeom>
          <a:solidFill>
            <a:srgbClr val="F4B942"/>
          </a:solidFill>
          <a:ln>
            <a:solidFill>
              <a:srgbClr val="C88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TextBox 193"/>
          <p:cNvSpPr txBox="1"/>
          <p:nvPr/>
        </p:nvSpPr>
        <p:spPr>
          <a:xfrm>
            <a:off x="4965192" y="7875270"/>
            <a:ext cx="5943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C88E1F"/>
                </a:solidFill>
                <a:latin typeface="Segoe UI"/>
                <a:ea typeface="メイリオ"/>
              </a:rPr>
              <a:t>当チーム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1143000" y="7690104"/>
            <a:ext cx="214884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2E6F40"/>
                </a:solidFill>
                <a:latin typeface="Segoe UI"/>
                <a:ea typeface="メイリオ"/>
              </a:rPr>
              <a:t>▼ 低使用 × 高効率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3474720" y="7690104"/>
            <a:ext cx="214884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2E6F40"/>
                </a:solidFill>
                <a:latin typeface="Segoe UI"/>
                <a:ea typeface="メイリオ"/>
              </a:rPr>
              <a:t>高使用 × 高効率 ▼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1143000" y="9015984"/>
            <a:ext cx="214884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C88E1F"/>
                </a:solidFill>
                <a:latin typeface="Segoe UI"/>
                <a:ea typeface="メイリオ"/>
              </a:rPr>
              <a:t>▶ 低使用 × 低効率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3474720" y="9015984"/>
            <a:ext cx="214884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C88E1F"/>
                </a:solidFill>
                <a:latin typeface="Segoe UI"/>
                <a:ea typeface="メイリオ"/>
              </a:rPr>
              <a:t>高使用 × 低効率 ◀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2468880" y="9116567"/>
            <a:ext cx="1828800" cy="1097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650" b="0">
                <a:solidFill>
                  <a:srgbClr val="6B6B6B"/>
                </a:solidFill>
                <a:latin typeface="Segoe UI"/>
                <a:ea typeface="メイリオ"/>
              </a:rPr>
              <a:t>バブル径 = 1人あたりコスト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274320" y="9509760"/>
            <a:ext cx="3438144" cy="1097280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TextBox 200"/>
          <p:cNvSpPr txBox="1"/>
          <p:nvPr/>
        </p:nvSpPr>
        <p:spPr>
          <a:xfrm>
            <a:off x="365760" y="9555480"/>
            <a:ext cx="3255263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B5C9A8"/>
                </a:solidFill>
                <a:latin typeface="Segoe UI"/>
                <a:ea typeface="メイリオ"/>
              </a:rPr>
              <a:t>当チーム実績 (6月)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365760" y="9701784"/>
            <a:ext cx="3255263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4B942"/>
                </a:solidFill>
                <a:latin typeface="Segoe UI"/>
                <a:ea typeface="メイリオ"/>
              </a:rPr>
              <a:t>690 [千円] → 20,000行</a:t>
            </a:r>
          </a:p>
        </p:txBody>
      </p:sp>
      <p:cxnSp>
        <p:nvCxnSpPr>
          <p:cNvPr id="203" name="Connector 202"/>
          <p:cNvCxnSpPr/>
          <p:nvPr/>
        </p:nvCxnSpPr>
        <p:spPr>
          <a:xfrm>
            <a:off x="365760" y="9966960"/>
            <a:ext cx="3255263" cy="0"/>
          </a:xfrm>
          <a:prstGeom prst="line">
            <a:avLst/>
          </a:prstGeom>
          <a:ln w="6350">
            <a:solidFill>
              <a:srgbClr val="F4B9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4" name="TextBox 203"/>
          <p:cNvSpPr txBox="1"/>
          <p:nvPr/>
        </p:nvSpPr>
        <p:spPr>
          <a:xfrm>
            <a:off x="365760" y="9985248"/>
            <a:ext cx="3255263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Segoe UI"/>
                <a:ea typeface="メイリオ"/>
              </a:rPr>
              <a:t>約 1,260 [千円] 投資換算 (人月単純相当)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365760" y="10149840"/>
            <a:ext cx="3255263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4B942"/>
                </a:solidFill>
                <a:latin typeface="Segoe UI"/>
                <a:ea typeface="メイリオ"/>
              </a:rPr>
              <a:t>約 36,400 行 / 人/月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365760" y="10424160"/>
            <a:ext cx="3255263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B5C9A8"/>
                </a:solidFill>
                <a:latin typeface="Segoe UI"/>
                <a:ea typeface="メイリオ"/>
              </a:rPr>
              <a:t>業界中央値 600 行/人/月 の 約61倍 (※単純比較)</a:t>
            </a:r>
          </a:p>
        </p:txBody>
      </p:sp>
      <p:sp>
        <p:nvSpPr>
          <p:cNvPr id="207" name="Rectangle 206"/>
          <p:cNvSpPr/>
          <p:nvPr/>
        </p:nvSpPr>
        <p:spPr>
          <a:xfrm>
            <a:off x="3849624" y="9509760"/>
            <a:ext cx="3438144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TextBox 207"/>
          <p:cNvSpPr txBox="1"/>
          <p:nvPr/>
        </p:nvSpPr>
        <p:spPr>
          <a:xfrm>
            <a:off x="3941063" y="9555480"/>
            <a:ext cx="325526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F3A2E"/>
                </a:solidFill>
                <a:latin typeface="Segoe UI"/>
                <a:ea typeface="メイリオ"/>
              </a:rPr>
              <a:t>【参考】 公開研究の月間コード生産量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3941063" y="9710928"/>
            <a:ext cx="325526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6B6B6B"/>
                </a:solidFill>
                <a:latin typeface="Segoe UI"/>
                <a:ea typeface="メイリオ"/>
              </a:rPr>
              <a:t>※ 品質・複雑度・業務特性は考慮されない単純比較</a:t>
            </a:r>
          </a:p>
        </p:txBody>
      </p:sp>
      <p:sp>
        <p:nvSpPr>
          <p:cNvPr id="210" name="Rectangle 209"/>
          <p:cNvSpPr/>
          <p:nvPr/>
        </p:nvSpPr>
        <p:spPr>
          <a:xfrm>
            <a:off x="3941063" y="9857232"/>
            <a:ext cx="3255264" cy="201168"/>
          </a:xfrm>
          <a:prstGeom prst="rect">
            <a:avLst/>
          </a:prstGeom>
          <a:solidFill>
            <a:srgbClr val="E8EFE3"/>
          </a:solidFill>
          <a:ln w="381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3941063" y="9857232"/>
            <a:ext cx="45720" cy="201168"/>
          </a:xfrm>
          <a:prstGeom prst="rect">
            <a:avLst/>
          </a:prstGeom>
          <a:solidFill>
            <a:srgbClr val="2E6F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TextBox 211"/>
          <p:cNvSpPr txBox="1"/>
          <p:nvPr/>
        </p:nvSpPr>
        <p:spPr>
          <a:xfrm>
            <a:off x="4032504" y="9884664"/>
            <a:ext cx="64008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保守的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4672584" y="9884664"/>
            <a:ext cx="1508760" cy="1737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222824"/>
                </a:solidFill>
                <a:latin typeface="Segoe UI"/>
                <a:ea typeface="メイリオ"/>
              </a:rPr>
              <a:t>325 〜 750 行/月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6208776" y="9884664"/>
            <a:ext cx="941832" cy="1737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Capers Jones</a:t>
            </a:r>
          </a:p>
        </p:txBody>
      </p:sp>
      <p:sp>
        <p:nvSpPr>
          <p:cNvPr id="215" name="Rectangle 214"/>
          <p:cNvSpPr/>
          <p:nvPr/>
        </p:nvSpPr>
        <p:spPr>
          <a:xfrm>
            <a:off x="3941063" y="10085832"/>
            <a:ext cx="3255264" cy="201168"/>
          </a:xfrm>
          <a:prstGeom prst="rect">
            <a:avLst/>
          </a:prstGeom>
          <a:solidFill>
            <a:srgbClr val="E8EFE3"/>
          </a:solidFill>
          <a:ln w="381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3941063" y="10085832"/>
            <a:ext cx="45720" cy="201168"/>
          </a:xfrm>
          <a:prstGeom prst="rect">
            <a:avLst/>
          </a:prstGeom>
          <a:solidFill>
            <a:srgbClr val="2E6F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TextBox 216"/>
          <p:cNvSpPr txBox="1"/>
          <p:nvPr/>
        </p:nvSpPr>
        <p:spPr>
          <a:xfrm>
            <a:off x="4032504" y="10113264"/>
            <a:ext cx="64008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中央値的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4672584" y="10113264"/>
            <a:ext cx="1508760" cy="1737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222824"/>
                </a:solidFill>
                <a:latin typeface="Segoe UI"/>
                <a:ea typeface="メイリオ"/>
              </a:rPr>
              <a:t>約 1,000 行/月</a:t>
            </a:r>
          </a:p>
        </p:txBody>
      </p:sp>
      <p:sp>
        <p:nvSpPr>
          <p:cNvPr id="219" name="TextBox 218"/>
          <p:cNvSpPr txBox="1"/>
          <p:nvPr/>
        </p:nvSpPr>
        <p:spPr>
          <a:xfrm>
            <a:off x="6208776" y="10113264"/>
            <a:ext cx="941832" cy="1737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日本SI業界 (IPA)</a:t>
            </a:r>
          </a:p>
        </p:txBody>
      </p:sp>
      <p:sp>
        <p:nvSpPr>
          <p:cNvPr id="220" name="Rectangle 219"/>
          <p:cNvSpPr/>
          <p:nvPr/>
        </p:nvSpPr>
        <p:spPr>
          <a:xfrm>
            <a:off x="3941063" y="10314432"/>
            <a:ext cx="3255264" cy="201168"/>
          </a:xfrm>
          <a:prstGeom prst="rect">
            <a:avLst/>
          </a:prstGeom>
          <a:solidFill>
            <a:srgbClr val="E8EFE3"/>
          </a:solidFill>
          <a:ln w="381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3941063" y="10314432"/>
            <a:ext cx="45720" cy="201168"/>
          </a:xfrm>
          <a:prstGeom prst="rect">
            <a:avLst/>
          </a:prstGeom>
          <a:solidFill>
            <a:srgbClr val="2E6F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TextBox 221"/>
          <p:cNvSpPr txBox="1"/>
          <p:nvPr/>
        </p:nvSpPr>
        <p:spPr>
          <a:xfrm>
            <a:off x="4032504" y="10341864"/>
            <a:ext cx="64008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生産性高</a:t>
            </a:r>
          </a:p>
        </p:txBody>
      </p:sp>
      <p:sp>
        <p:nvSpPr>
          <p:cNvPr id="223" name="TextBox 222"/>
          <p:cNvSpPr txBox="1"/>
          <p:nvPr/>
        </p:nvSpPr>
        <p:spPr>
          <a:xfrm>
            <a:off x="4672584" y="10341864"/>
            <a:ext cx="1508760" cy="1737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222824"/>
                </a:solidFill>
                <a:latin typeface="Segoe UI"/>
                <a:ea typeface="メイリオ"/>
              </a:rPr>
              <a:t>1,500 〜 1,600 行/月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6208776" y="10341864"/>
            <a:ext cx="941832" cy="1737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個人実測 / Scrum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